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6" r:id="rId9"/>
    <p:sldId id="264" r:id="rId10"/>
    <p:sldId id="265" r:id="rId11"/>
  </p:sldIdLst>
  <p:sldSz cx="11430000" cy="6597650"/>
  <p:notesSz cx="11430000" cy="6597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2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323F6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23F6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23F6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23F6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63550"/>
            <a:ext cx="8379459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323F6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9344" y="1590675"/>
            <a:ext cx="6042025" cy="4497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863725"/>
            <a:ext cx="5420995" cy="16065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z="3350" spc="425" dirty="0"/>
              <a:t>Steam</a:t>
            </a:r>
            <a:r>
              <a:rPr sz="3350" spc="-300" dirty="0"/>
              <a:t> </a:t>
            </a:r>
            <a:r>
              <a:rPr sz="3350" spc="425" dirty="0"/>
              <a:t>Game </a:t>
            </a:r>
            <a:r>
              <a:rPr sz="3350" spc="365" dirty="0"/>
              <a:t>Analytics</a:t>
            </a:r>
            <a:r>
              <a:rPr sz="3350" spc="-295" dirty="0"/>
              <a:t> </a:t>
            </a:r>
            <a:r>
              <a:rPr sz="3350" spc="254" dirty="0"/>
              <a:t>&amp;</a:t>
            </a:r>
            <a:r>
              <a:rPr sz="3350" spc="-434" dirty="0"/>
              <a:t> </a:t>
            </a:r>
            <a:r>
              <a:rPr sz="3350" spc="245" dirty="0"/>
              <a:t>Ranking </a:t>
            </a:r>
            <a:r>
              <a:rPr sz="3350" spc="385" dirty="0"/>
              <a:t>System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4873625" y="3698240"/>
            <a:ext cx="5949950" cy="8350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Design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 brief for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 web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app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that ingests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game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metadata, player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activity,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sales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ratings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355" dirty="0">
                <a:solidFill>
                  <a:srgbClr val="323F6F"/>
                </a:solidFill>
                <a:latin typeface="Trebuchet MS"/>
                <a:cs typeface="Trebuchet MS"/>
              </a:rPr>
              <a:t>—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then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computes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live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popularity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ranking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visualises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trends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for</a:t>
            </a:r>
            <a:r>
              <a:rPr sz="1350" spc="114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developers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114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product</a:t>
            </a:r>
            <a:r>
              <a:rPr sz="1350" spc="114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teams.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79584" y="5855589"/>
            <a:ext cx="1986280" cy="514350"/>
            <a:chOff x="9379584" y="5855589"/>
            <a:chExt cx="1986280" cy="5143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85299" y="5861304"/>
              <a:ext cx="1974850" cy="502920"/>
            </a:xfrm>
            <a:custGeom>
              <a:avLst/>
              <a:gdLst/>
              <a:ahLst/>
              <a:cxnLst/>
              <a:rect l="l" t="t" r="r" b="b"/>
              <a:pathLst>
                <a:path w="1974850" h="502920">
                  <a:moveTo>
                    <a:pt x="197453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974532" y="502920"/>
                  </a:lnTo>
                  <a:lnTo>
                    <a:pt x="19745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85299" y="5861304"/>
              <a:ext cx="1974850" cy="502920"/>
            </a:xfrm>
            <a:custGeom>
              <a:avLst/>
              <a:gdLst/>
              <a:ahLst/>
              <a:cxnLst/>
              <a:rect l="l" t="t" r="r" b="b"/>
              <a:pathLst>
                <a:path w="1974850" h="502920">
                  <a:moveTo>
                    <a:pt x="0" y="502920"/>
                  </a:moveTo>
                  <a:lnTo>
                    <a:pt x="1974532" y="502920"/>
                  </a:lnTo>
                  <a:lnTo>
                    <a:pt x="197453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ED22-CB3D-57BF-6FEB-38A462A0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63550"/>
            <a:ext cx="8379459" cy="415498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2225A-D0EC-38F9-F30D-EC2212A2E653}"/>
              </a:ext>
            </a:extLst>
          </p:cNvPr>
          <p:cNvSpPr txBox="1"/>
          <p:nvPr/>
        </p:nvSpPr>
        <p:spPr>
          <a:xfrm>
            <a:off x="228600" y="1165225"/>
            <a:ext cx="5791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Game Popularity Analysis</a:t>
            </a:r>
          </a:p>
          <a:p>
            <a:r>
              <a:rPr lang="en-US" dirty="0"/>
              <a:t>The system analyzes </a:t>
            </a:r>
            <a:r>
              <a:rPr lang="en-US" b="1" dirty="0"/>
              <a:t>player count, ratings, and discounts</a:t>
            </a:r>
            <a:r>
              <a:rPr lang="en-US" dirty="0"/>
              <a:t> to determine which games are trending.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2. Marketing Strategy Optimization</a:t>
            </a:r>
          </a:p>
          <a:p>
            <a:r>
              <a:rPr lang="en-US" dirty="0"/>
              <a:t>Gaming platforms can study </a:t>
            </a:r>
            <a:r>
              <a:rPr lang="en-US" b="1" dirty="0"/>
              <a:t>which sales attract more players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3. Game Recommendation Systems</a:t>
            </a:r>
          </a:p>
          <a:p>
            <a:r>
              <a:rPr lang="en-US" dirty="0"/>
              <a:t>Using rankings and popularity scores, platforms can recommend </a:t>
            </a:r>
            <a:r>
              <a:rPr lang="en-US" b="1" dirty="0"/>
              <a:t>trending games to users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4. Player Trend Tracking</a:t>
            </a:r>
          </a:p>
          <a:p>
            <a:r>
              <a:rPr lang="en-US" dirty="0"/>
              <a:t>The system records </a:t>
            </a:r>
            <a:r>
              <a:rPr lang="en-US" b="1" dirty="0"/>
              <a:t>player statistics over time</a:t>
            </a:r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41ACEAD-276D-3492-F182-2A305AB1CB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784225"/>
            <a:ext cx="391477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3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11" y="654364"/>
            <a:ext cx="143148" cy="1427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95747" y="631190"/>
            <a:ext cx="103695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323F6F"/>
                </a:solidFill>
                <a:latin typeface="Trebuchet MS"/>
                <a:cs typeface="Trebuchet MS"/>
              </a:rPr>
              <a:t>PROJECT</a:t>
            </a:r>
            <a:r>
              <a:rPr sz="1050" spc="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323F6F"/>
                </a:solidFill>
                <a:latin typeface="Trebuchet MS"/>
                <a:cs typeface="Trebuchet MS"/>
              </a:rPr>
              <a:t>SCOPE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1266824"/>
            <a:ext cx="3305174" cy="441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23702" y="2244725"/>
            <a:ext cx="37306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Core</a:t>
            </a:r>
            <a:r>
              <a:rPr spc="-240" dirty="0"/>
              <a:t> </a:t>
            </a:r>
            <a:r>
              <a:rPr spc="215" dirty="0"/>
              <a:t>Capabilities</a:t>
            </a:r>
          </a:p>
        </p:txBody>
      </p:sp>
      <p:sp>
        <p:nvSpPr>
          <p:cNvPr id="6" name="object 6"/>
          <p:cNvSpPr/>
          <p:nvPr/>
        </p:nvSpPr>
        <p:spPr>
          <a:xfrm>
            <a:off x="4362450" y="2971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7844" y="2873375"/>
            <a:ext cx="4979670" cy="1907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Admin:</a:t>
            </a:r>
            <a:r>
              <a:rPr sz="1350" spc="-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add/edit</a:t>
            </a:r>
            <a:r>
              <a:rPr sz="1350" spc="-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games</a:t>
            </a:r>
            <a:r>
              <a:rPr sz="1350" spc="-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-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manage</a:t>
            </a:r>
            <a:r>
              <a:rPr sz="1350" spc="-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metadata</a:t>
            </a:r>
            <a:endParaRPr sz="1350">
              <a:latin typeface="Trebuchet MS"/>
              <a:cs typeface="Trebuchet MS"/>
            </a:endParaRPr>
          </a:p>
          <a:p>
            <a:pPr marL="12700" marR="377190">
              <a:lnSpc>
                <a:spcPct val="162000"/>
              </a:lnSpc>
            </a:pP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Telemetry: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record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current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&amp;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peak</a:t>
            </a:r>
            <a:r>
              <a:rPr sz="1350" spc="8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player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counts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over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time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Sales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tracking: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capture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discounts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sale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windows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62000"/>
              </a:lnSpc>
              <a:spcBef>
                <a:spcPts val="75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Automated</a:t>
            </a:r>
            <a:r>
              <a:rPr sz="1350" spc="12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ranking: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compute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popularity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score</a:t>
            </a:r>
            <a:r>
              <a:rPr sz="1350" spc="12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top-10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lists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Visualisations: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growth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graphs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trend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charts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(Chart.js)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Authentication:</a:t>
            </a:r>
            <a:r>
              <a:rPr sz="1350" spc="4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secure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user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login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role-based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access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62450" y="3305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62450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62450" y="39814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62450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2450" y="4648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9341484" y="5877814"/>
            <a:ext cx="2000250" cy="542925"/>
            <a:chOff x="9341484" y="5877814"/>
            <a:chExt cx="2000250" cy="5429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347199" y="5883529"/>
              <a:ext cx="1988820" cy="531495"/>
            </a:xfrm>
            <a:custGeom>
              <a:avLst/>
              <a:gdLst/>
              <a:ahLst/>
              <a:cxnLst/>
              <a:rect l="l" t="t" r="r" b="b"/>
              <a:pathLst>
                <a:path w="1988820" h="531495">
                  <a:moveTo>
                    <a:pt x="1988820" y="0"/>
                  </a:moveTo>
                  <a:lnTo>
                    <a:pt x="0" y="0"/>
                  </a:lnTo>
                  <a:lnTo>
                    <a:pt x="0" y="531495"/>
                  </a:lnTo>
                  <a:lnTo>
                    <a:pt x="1988820" y="531495"/>
                  </a:lnTo>
                  <a:lnTo>
                    <a:pt x="1988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47199" y="5883529"/>
              <a:ext cx="1988820" cy="531495"/>
            </a:xfrm>
            <a:custGeom>
              <a:avLst/>
              <a:gdLst/>
              <a:ahLst/>
              <a:cxnLst/>
              <a:rect l="l" t="t" r="r" b="b"/>
              <a:pathLst>
                <a:path w="1988820" h="531495">
                  <a:moveTo>
                    <a:pt x="0" y="531495"/>
                  </a:moveTo>
                  <a:lnTo>
                    <a:pt x="1988820" y="531495"/>
                  </a:lnTo>
                  <a:lnTo>
                    <a:pt x="1988820" y="0"/>
                  </a:lnTo>
                  <a:lnTo>
                    <a:pt x="0" y="0"/>
                  </a:lnTo>
                  <a:lnTo>
                    <a:pt x="0" y="531495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335" dirty="0">
                <a:solidFill>
                  <a:srgbClr val="333F6F"/>
                </a:solidFill>
              </a:rPr>
              <a:t>Database</a:t>
            </a:r>
            <a:r>
              <a:rPr spc="-235" dirty="0">
                <a:solidFill>
                  <a:srgbClr val="333F6F"/>
                </a:solidFill>
              </a:rPr>
              <a:t> </a:t>
            </a:r>
            <a:r>
              <a:rPr spc="204" dirty="0">
                <a:solidFill>
                  <a:srgbClr val="333F6F"/>
                </a:solidFill>
              </a:rPr>
              <a:t>Design</a:t>
            </a:r>
            <a:r>
              <a:rPr spc="-229" dirty="0">
                <a:solidFill>
                  <a:srgbClr val="333F6F"/>
                </a:solidFill>
              </a:rPr>
              <a:t> </a:t>
            </a:r>
            <a:r>
              <a:rPr spc="40" dirty="0">
                <a:solidFill>
                  <a:srgbClr val="333F6F"/>
                </a:solidFill>
              </a:rPr>
              <a:t>(Overview)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202689"/>
            <a:ext cx="99980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Relational</a:t>
            </a:r>
            <a:r>
              <a:rPr sz="1350" spc="4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333F6F"/>
                </a:solidFill>
                <a:latin typeface="Trebuchet MS"/>
                <a:cs typeface="Trebuchet MS"/>
              </a:rPr>
              <a:t>schema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stored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in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33F6F"/>
                </a:solidFill>
                <a:latin typeface="Trebuchet MS"/>
                <a:cs typeface="Trebuchet MS"/>
              </a:rPr>
              <a:t>MySQL.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Tables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designed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for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time-series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player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data,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discrete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sale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events,</a:t>
            </a:r>
            <a:r>
              <a:rPr sz="1350" spc="4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33F6F"/>
                </a:solidFill>
                <a:latin typeface="Trebuchet MS"/>
                <a:cs typeface="Trebuchet MS"/>
              </a:rPr>
              <a:t>and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computed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rankings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for</a:t>
            </a:r>
            <a:r>
              <a:rPr sz="1350" spc="3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quick</a:t>
            </a:r>
            <a:r>
              <a:rPr sz="1350" spc="3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reads.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1990725"/>
            <a:ext cx="3295650" cy="2066925"/>
            <a:chOff x="600074" y="1990725"/>
            <a:chExt cx="3295650" cy="2066925"/>
          </a:xfrm>
        </p:grpSpPr>
        <p:sp>
          <p:nvSpPr>
            <p:cNvPr id="5" name="object 5"/>
            <p:cNvSpPr/>
            <p:nvPr/>
          </p:nvSpPr>
          <p:spPr>
            <a:xfrm>
              <a:off x="609599" y="224789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9" y="1780544"/>
                  </a:lnTo>
                  <a:lnTo>
                    <a:pt x="0" y="1753057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9" y="51661"/>
                  </a:lnTo>
                  <a:lnTo>
                    <a:pt x="3276599" y="71196"/>
                  </a:lnTo>
                  <a:lnTo>
                    <a:pt x="3276599" y="1753057"/>
                  </a:lnTo>
                  <a:lnTo>
                    <a:pt x="3259470" y="1787782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62" y="2248750"/>
              <a:ext cx="3295650" cy="1809114"/>
            </a:xfrm>
            <a:custGeom>
              <a:avLst/>
              <a:gdLst/>
              <a:ahLst/>
              <a:cxnLst/>
              <a:rect l="l" t="t" r="r" b="b"/>
              <a:pathLst>
                <a:path w="3295650" h="1809114">
                  <a:moveTo>
                    <a:pt x="3295650" y="75361"/>
                  </a:moveTo>
                  <a:lnTo>
                    <a:pt x="3282823" y="33007"/>
                  </a:lnTo>
                  <a:lnTo>
                    <a:pt x="3248622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61"/>
                  </a:lnTo>
                  <a:lnTo>
                    <a:pt x="3276600" y="1748904"/>
                  </a:lnTo>
                  <a:lnTo>
                    <a:pt x="3264090" y="1778292"/>
                  </a:lnTo>
                  <a:lnTo>
                    <a:pt x="3258299" y="1783105"/>
                  </a:lnTo>
                  <a:lnTo>
                    <a:pt x="3251377" y="1786851"/>
                  </a:lnTo>
                  <a:lnTo>
                    <a:pt x="3243821" y="1789099"/>
                  </a:lnTo>
                  <a:lnTo>
                    <a:pt x="3235642" y="1789861"/>
                  </a:lnTo>
                  <a:lnTo>
                    <a:pt x="60007" y="1789861"/>
                  </a:lnTo>
                  <a:lnTo>
                    <a:pt x="51841" y="1789099"/>
                  </a:lnTo>
                  <a:lnTo>
                    <a:pt x="44284" y="1786851"/>
                  </a:lnTo>
                  <a:lnTo>
                    <a:pt x="37363" y="1783105"/>
                  </a:lnTo>
                  <a:lnTo>
                    <a:pt x="31559" y="1778304"/>
                  </a:lnTo>
                  <a:lnTo>
                    <a:pt x="31051" y="1777860"/>
                  </a:lnTo>
                  <a:lnTo>
                    <a:pt x="25806" y="1771548"/>
                  </a:lnTo>
                  <a:lnTo>
                    <a:pt x="22059" y="1764626"/>
                  </a:lnTo>
                  <a:lnTo>
                    <a:pt x="19812" y="1757070"/>
                  </a:lnTo>
                  <a:lnTo>
                    <a:pt x="19050" y="1748904"/>
                  </a:lnTo>
                  <a:lnTo>
                    <a:pt x="19050" y="75361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756854"/>
                  </a:lnTo>
                  <a:lnTo>
                    <a:pt x="1524" y="1764512"/>
                  </a:lnTo>
                  <a:lnTo>
                    <a:pt x="7620" y="1779219"/>
                  </a:lnTo>
                  <a:lnTo>
                    <a:pt x="11950" y="1785708"/>
                  </a:lnTo>
                  <a:lnTo>
                    <a:pt x="17576" y="1791335"/>
                  </a:lnTo>
                  <a:lnTo>
                    <a:pt x="23202" y="1796961"/>
                  </a:lnTo>
                  <a:lnTo>
                    <a:pt x="29692" y="1801291"/>
                  </a:lnTo>
                  <a:lnTo>
                    <a:pt x="44399" y="1807387"/>
                  </a:lnTo>
                  <a:lnTo>
                    <a:pt x="52057" y="1808911"/>
                  </a:lnTo>
                  <a:lnTo>
                    <a:pt x="3243605" y="1808911"/>
                  </a:lnTo>
                  <a:lnTo>
                    <a:pt x="3251263" y="1807387"/>
                  </a:lnTo>
                  <a:lnTo>
                    <a:pt x="3265970" y="1801291"/>
                  </a:lnTo>
                  <a:lnTo>
                    <a:pt x="3272447" y="1796961"/>
                  </a:lnTo>
                  <a:lnTo>
                    <a:pt x="3277603" y="1791804"/>
                  </a:lnTo>
                  <a:lnTo>
                    <a:pt x="3278086" y="1791335"/>
                  </a:lnTo>
                  <a:lnTo>
                    <a:pt x="3283712" y="1785708"/>
                  </a:lnTo>
                  <a:lnTo>
                    <a:pt x="3288042" y="1779219"/>
                  </a:lnTo>
                  <a:lnTo>
                    <a:pt x="3294138" y="1764512"/>
                  </a:lnTo>
                  <a:lnTo>
                    <a:pt x="3295612" y="1757070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062" y="1990737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82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92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71" y="128511"/>
                  </a:lnTo>
                  <a:lnTo>
                    <a:pt x="1841284" y="87503"/>
                  </a:lnTo>
                  <a:lnTo>
                    <a:pt x="1804466" y="53022"/>
                  </a:lnTo>
                  <a:lnTo>
                    <a:pt x="1761629" y="26390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52" y="48018"/>
                  </a:lnTo>
                  <a:lnTo>
                    <a:pt x="1460030" y="81280"/>
                  </a:lnTo>
                  <a:lnTo>
                    <a:pt x="1429321" y="121297"/>
                  </a:lnTo>
                  <a:lnTo>
                    <a:pt x="1407007" y="166535"/>
                  </a:lnTo>
                  <a:lnTo>
                    <a:pt x="1393952" y="215252"/>
                  </a:lnTo>
                  <a:lnTo>
                    <a:pt x="1391285" y="238125"/>
                  </a:lnTo>
                  <a:lnTo>
                    <a:pt x="56070" y="238125"/>
                  </a:lnTo>
                  <a:lnTo>
                    <a:pt x="20370" y="252907"/>
                  </a:lnTo>
                  <a:lnTo>
                    <a:pt x="393" y="290283"/>
                  </a:lnTo>
                  <a:lnTo>
                    <a:pt x="0" y="294182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07"/>
                  </a:lnTo>
                  <a:lnTo>
                    <a:pt x="1413459" y="363372"/>
                  </a:lnTo>
                  <a:lnTo>
                    <a:pt x="1438681" y="407047"/>
                  </a:lnTo>
                  <a:lnTo>
                    <a:pt x="1471942" y="444969"/>
                  </a:lnTo>
                  <a:lnTo>
                    <a:pt x="1511960" y="475678"/>
                  </a:lnTo>
                  <a:lnTo>
                    <a:pt x="1557197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58"/>
                  </a:lnTo>
                  <a:lnTo>
                    <a:pt x="1754035" y="491540"/>
                  </a:lnTo>
                  <a:lnTo>
                    <a:pt x="1797710" y="466318"/>
                  </a:lnTo>
                  <a:lnTo>
                    <a:pt x="1835632" y="433057"/>
                  </a:lnTo>
                  <a:lnTo>
                    <a:pt x="1866341" y="393039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82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7874" y="2659062"/>
            <a:ext cx="252476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25" dirty="0">
                <a:solidFill>
                  <a:srgbClr val="333F6F"/>
                </a:solidFill>
                <a:latin typeface="Verdana"/>
                <a:cs typeface="Verdana"/>
              </a:rPr>
              <a:t>games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game_id</a:t>
            </a:r>
            <a:r>
              <a:rPr sz="1350" spc="2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333F6F"/>
                </a:solidFill>
                <a:latin typeface="Trebuchet MS"/>
                <a:cs typeface="Trebuchet MS"/>
              </a:rPr>
              <a:t>(PK),</a:t>
            </a:r>
            <a:r>
              <a:rPr sz="1350" spc="2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name,</a:t>
            </a:r>
            <a:r>
              <a:rPr sz="1350" spc="2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developer, release_date,</a:t>
            </a:r>
            <a:r>
              <a:rPr sz="1350" spc="-1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base_price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4" y="1990725"/>
            <a:ext cx="3295650" cy="2066925"/>
            <a:chOff x="4067174" y="1990725"/>
            <a:chExt cx="3295650" cy="2066925"/>
          </a:xfrm>
        </p:grpSpPr>
        <p:sp>
          <p:nvSpPr>
            <p:cNvPr id="10" name="object 10"/>
            <p:cNvSpPr/>
            <p:nvPr/>
          </p:nvSpPr>
          <p:spPr>
            <a:xfrm>
              <a:off x="4076699" y="224789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9" y="1780544"/>
                  </a:lnTo>
                  <a:lnTo>
                    <a:pt x="0" y="1753057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6" y="15621"/>
                  </a:lnTo>
                  <a:lnTo>
                    <a:pt x="3273200" y="51661"/>
                  </a:lnTo>
                  <a:lnTo>
                    <a:pt x="3276600" y="71196"/>
                  </a:lnTo>
                  <a:lnTo>
                    <a:pt x="3276600" y="1753057"/>
                  </a:lnTo>
                  <a:lnTo>
                    <a:pt x="3259469" y="1787782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7162" y="2248750"/>
              <a:ext cx="3295650" cy="1809114"/>
            </a:xfrm>
            <a:custGeom>
              <a:avLst/>
              <a:gdLst/>
              <a:ahLst/>
              <a:cxnLst/>
              <a:rect l="l" t="t" r="r" b="b"/>
              <a:pathLst>
                <a:path w="3295650" h="1809114">
                  <a:moveTo>
                    <a:pt x="3295650" y="75361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61"/>
                  </a:lnTo>
                  <a:lnTo>
                    <a:pt x="3276600" y="1748904"/>
                  </a:lnTo>
                  <a:lnTo>
                    <a:pt x="3264090" y="1778292"/>
                  </a:lnTo>
                  <a:lnTo>
                    <a:pt x="3258299" y="1783105"/>
                  </a:lnTo>
                  <a:lnTo>
                    <a:pt x="3251377" y="1786851"/>
                  </a:lnTo>
                  <a:lnTo>
                    <a:pt x="3243821" y="1789099"/>
                  </a:lnTo>
                  <a:lnTo>
                    <a:pt x="3235642" y="1789861"/>
                  </a:lnTo>
                  <a:lnTo>
                    <a:pt x="60007" y="1789861"/>
                  </a:lnTo>
                  <a:lnTo>
                    <a:pt x="51841" y="1789099"/>
                  </a:lnTo>
                  <a:lnTo>
                    <a:pt x="44284" y="1786851"/>
                  </a:lnTo>
                  <a:lnTo>
                    <a:pt x="37363" y="1783105"/>
                  </a:lnTo>
                  <a:lnTo>
                    <a:pt x="31559" y="1778304"/>
                  </a:lnTo>
                  <a:lnTo>
                    <a:pt x="31051" y="1777860"/>
                  </a:lnTo>
                  <a:lnTo>
                    <a:pt x="25806" y="1771548"/>
                  </a:lnTo>
                  <a:lnTo>
                    <a:pt x="22059" y="1764626"/>
                  </a:lnTo>
                  <a:lnTo>
                    <a:pt x="19812" y="1757070"/>
                  </a:lnTo>
                  <a:lnTo>
                    <a:pt x="19050" y="1748904"/>
                  </a:lnTo>
                  <a:lnTo>
                    <a:pt x="19050" y="75361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756854"/>
                  </a:lnTo>
                  <a:lnTo>
                    <a:pt x="1524" y="1764512"/>
                  </a:lnTo>
                  <a:lnTo>
                    <a:pt x="7620" y="1779219"/>
                  </a:lnTo>
                  <a:lnTo>
                    <a:pt x="11950" y="1785708"/>
                  </a:lnTo>
                  <a:lnTo>
                    <a:pt x="17576" y="1791335"/>
                  </a:lnTo>
                  <a:lnTo>
                    <a:pt x="23202" y="1796961"/>
                  </a:lnTo>
                  <a:lnTo>
                    <a:pt x="29692" y="1801291"/>
                  </a:lnTo>
                  <a:lnTo>
                    <a:pt x="44399" y="1807387"/>
                  </a:lnTo>
                  <a:lnTo>
                    <a:pt x="52057" y="1808911"/>
                  </a:lnTo>
                  <a:lnTo>
                    <a:pt x="3243605" y="1808911"/>
                  </a:lnTo>
                  <a:lnTo>
                    <a:pt x="3251263" y="1807387"/>
                  </a:lnTo>
                  <a:lnTo>
                    <a:pt x="3265957" y="1801291"/>
                  </a:lnTo>
                  <a:lnTo>
                    <a:pt x="3272447" y="1796961"/>
                  </a:lnTo>
                  <a:lnTo>
                    <a:pt x="3277603" y="1791804"/>
                  </a:lnTo>
                  <a:lnTo>
                    <a:pt x="3278086" y="1791335"/>
                  </a:lnTo>
                  <a:lnTo>
                    <a:pt x="3283712" y="1785708"/>
                  </a:lnTo>
                  <a:lnTo>
                    <a:pt x="3288042" y="1779219"/>
                  </a:lnTo>
                  <a:lnTo>
                    <a:pt x="3294126" y="1764512"/>
                  </a:lnTo>
                  <a:lnTo>
                    <a:pt x="3295612" y="1757070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7162" y="1990737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82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92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71" y="128511"/>
                  </a:lnTo>
                  <a:lnTo>
                    <a:pt x="1841284" y="87503"/>
                  </a:lnTo>
                  <a:lnTo>
                    <a:pt x="1804466" y="53022"/>
                  </a:lnTo>
                  <a:lnTo>
                    <a:pt x="1761629" y="26390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52" y="48018"/>
                  </a:lnTo>
                  <a:lnTo>
                    <a:pt x="1460030" y="81280"/>
                  </a:lnTo>
                  <a:lnTo>
                    <a:pt x="1429321" y="121297"/>
                  </a:lnTo>
                  <a:lnTo>
                    <a:pt x="1407007" y="166535"/>
                  </a:lnTo>
                  <a:lnTo>
                    <a:pt x="1393952" y="215252"/>
                  </a:lnTo>
                  <a:lnTo>
                    <a:pt x="1391285" y="238125"/>
                  </a:lnTo>
                  <a:lnTo>
                    <a:pt x="56070" y="238125"/>
                  </a:lnTo>
                  <a:lnTo>
                    <a:pt x="20370" y="252907"/>
                  </a:lnTo>
                  <a:lnTo>
                    <a:pt x="393" y="290283"/>
                  </a:lnTo>
                  <a:lnTo>
                    <a:pt x="0" y="294182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07"/>
                  </a:lnTo>
                  <a:lnTo>
                    <a:pt x="1413459" y="363372"/>
                  </a:lnTo>
                  <a:lnTo>
                    <a:pt x="1438681" y="407047"/>
                  </a:lnTo>
                  <a:lnTo>
                    <a:pt x="1471942" y="444969"/>
                  </a:lnTo>
                  <a:lnTo>
                    <a:pt x="1511960" y="475678"/>
                  </a:lnTo>
                  <a:lnTo>
                    <a:pt x="1557197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58"/>
                  </a:lnTo>
                  <a:lnTo>
                    <a:pt x="1754035" y="491540"/>
                  </a:lnTo>
                  <a:lnTo>
                    <a:pt x="1797710" y="466318"/>
                  </a:lnTo>
                  <a:lnTo>
                    <a:pt x="1835632" y="433057"/>
                  </a:lnTo>
                  <a:lnTo>
                    <a:pt x="1866341" y="393039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82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44975" y="2659062"/>
            <a:ext cx="2440305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40" dirty="0">
                <a:solidFill>
                  <a:srgbClr val="333F6F"/>
                </a:solidFill>
                <a:latin typeface="Verdana"/>
                <a:cs typeface="Verdana"/>
              </a:rPr>
              <a:t>player_stats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stat_id</a:t>
            </a:r>
            <a:r>
              <a:rPr sz="1350" spc="-2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333F6F"/>
                </a:solidFill>
                <a:latin typeface="Trebuchet MS"/>
                <a:cs typeface="Trebuchet MS"/>
              </a:rPr>
              <a:t>(PK),</a:t>
            </a:r>
            <a:r>
              <a:rPr sz="1350" spc="-2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game_id</a:t>
            </a:r>
            <a:r>
              <a:rPr sz="1350" spc="-2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(FK),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current_players,</a:t>
            </a:r>
            <a:r>
              <a:rPr sz="1350" spc="4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peak_players, recorded_at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34274" y="1990725"/>
            <a:ext cx="3295650" cy="2066925"/>
            <a:chOff x="7534274" y="1990725"/>
            <a:chExt cx="3295650" cy="2066925"/>
          </a:xfrm>
        </p:grpSpPr>
        <p:sp>
          <p:nvSpPr>
            <p:cNvPr id="15" name="object 15"/>
            <p:cNvSpPr/>
            <p:nvPr/>
          </p:nvSpPr>
          <p:spPr>
            <a:xfrm>
              <a:off x="7543799" y="224789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8" y="1780544"/>
                  </a:lnTo>
                  <a:lnTo>
                    <a:pt x="0" y="1753057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8" y="51661"/>
                  </a:lnTo>
                  <a:lnTo>
                    <a:pt x="3276598" y="71196"/>
                  </a:lnTo>
                  <a:lnTo>
                    <a:pt x="3276598" y="1753057"/>
                  </a:lnTo>
                  <a:lnTo>
                    <a:pt x="3259470" y="1787782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4262" y="2248750"/>
              <a:ext cx="3295650" cy="1809114"/>
            </a:xfrm>
            <a:custGeom>
              <a:avLst/>
              <a:gdLst/>
              <a:ahLst/>
              <a:cxnLst/>
              <a:rect l="l" t="t" r="r" b="b"/>
              <a:pathLst>
                <a:path w="3295650" h="1809114">
                  <a:moveTo>
                    <a:pt x="3295650" y="75361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61"/>
                  </a:lnTo>
                  <a:lnTo>
                    <a:pt x="3276600" y="1748904"/>
                  </a:lnTo>
                  <a:lnTo>
                    <a:pt x="3264090" y="1778292"/>
                  </a:lnTo>
                  <a:lnTo>
                    <a:pt x="3258299" y="1783105"/>
                  </a:lnTo>
                  <a:lnTo>
                    <a:pt x="3251365" y="1786851"/>
                  </a:lnTo>
                  <a:lnTo>
                    <a:pt x="3243821" y="1789099"/>
                  </a:lnTo>
                  <a:lnTo>
                    <a:pt x="3235642" y="1789861"/>
                  </a:lnTo>
                  <a:lnTo>
                    <a:pt x="60007" y="1789861"/>
                  </a:lnTo>
                  <a:lnTo>
                    <a:pt x="51841" y="1789099"/>
                  </a:lnTo>
                  <a:lnTo>
                    <a:pt x="44284" y="1786851"/>
                  </a:lnTo>
                  <a:lnTo>
                    <a:pt x="37363" y="1783105"/>
                  </a:lnTo>
                  <a:lnTo>
                    <a:pt x="31559" y="1778304"/>
                  </a:lnTo>
                  <a:lnTo>
                    <a:pt x="31051" y="1777860"/>
                  </a:lnTo>
                  <a:lnTo>
                    <a:pt x="25806" y="1771548"/>
                  </a:lnTo>
                  <a:lnTo>
                    <a:pt x="22059" y="1764626"/>
                  </a:lnTo>
                  <a:lnTo>
                    <a:pt x="19799" y="1757070"/>
                  </a:lnTo>
                  <a:lnTo>
                    <a:pt x="19050" y="1748904"/>
                  </a:lnTo>
                  <a:lnTo>
                    <a:pt x="19050" y="75361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756854"/>
                  </a:lnTo>
                  <a:lnTo>
                    <a:pt x="1524" y="1764512"/>
                  </a:lnTo>
                  <a:lnTo>
                    <a:pt x="7620" y="1779219"/>
                  </a:lnTo>
                  <a:lnTo>
                    <a:pt x="11950" y="1785708"/>
                  </a:lnTo>
                  <a:lnTo>
                    <a:pt x="17805" y="1791563"/>
                  </a:lnTo>
                  <a:lnTo>
                    <a:pt x="23202" y="1796961"/>
                  </a:lnTo>
                  <a:lnTo>
                    <a:pt x="29692" y="1801291"/>
                  </a:lnTo>
                  <a:lnTo>
                    <a:pt x="44399" y="1807387"/>
                  </a:lnTo>
                  <a:lnTo>
                    <a:pt x="52057" y="1808911"/>
                  </a:lnTo>
                  <a:lnTo>
                    <a:pt x="3243605" y="1808911"/>
                  </a:lnTo>
                  <a:lnTo>
                    <a:pt x="3251263" y="1807387"/>
                  </a:lnTo>
                  <a:lnTo>
                    <a:pt x="3265957" y="1801291"/>
                  </a:lnTo>
                  <a:lnTo>
                    <a:pt x="3272447" y="1796961"/>
                  </a:lnTo>
                  <a:lnTo>
                    <a:pt x="3277603" y="1791804"/>
                  </a:lnTo>
                  <a:lnTo>
                    <a:pt x="3278073" y="1791335"/>
                  </a:lnTo>
                  <a:lnTo>
                    <a:pt x="3283699" y="1785708"/>
                  </a:lnTo>
                  <a:lnTo>
                    <a:pt x="3288042" y="1779219"/>
                  </a:lnTo>
                  <a:lnTo>
                    <a:pt x="3294126" y="1764512"/>
                  </a:lnTo>
                  <a:lnTo>
                    <a:pt x="3295612" y="1757070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34262" y="1990737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82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92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71" y="128511"/>
                  </a:lnTo>
                  <a:lnTo>
                    <a:pt x="1841284" y="87503"/>
                  </a:lnTo>
                  <a:lnTo>
                    <a:pt x="1804466" y="53022"/>
                  </a:lnTo>
                  <a:lnTo>
                    <a:pt x="1761629" y="26390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52" y="48018"/>
                  </a:lnTo>
                  <a:lnTo>
                    <a:pt x="1460030" y="81280"/>
                  </a:lnTo>
                  <a:lnTo>
                    <a:pt x="1429321" y="121297"/>
                  </a:lnTo>
                  <a:lnTo>
                    <a:pt x="1407007" y="166535"/>
                  </a:lnTo>
                  <a:lnTo>
                    <a:pt x="1393952" y="215252"/>
                  </a:lnTo>
                  <a:lnTo>
                    <a:pt x="1391285" y="238125"/>
                  </a:lnTo>
                  <a:lnTo>
                    <a:pt x="56070" y="238125"/>
                  </a:lnTo>
                  <a:lnTo>
                    <a:pt x="20370" y="252907"/>
                  </a:lnTo>
                  <a:lnTo>
                    <a:pt x="393" y="290283"/>
                  </a:lnTo>
                  <a:lnTo>
                    <a:pt x="0" y="294182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07"/>
                  </a:lnTo>
                  <a:lnTo>
                    <a:pt x="1413459" y="363372"/>
                  </a:lnTo>
                  <a:lnTo>
                    <a:pt x="1438681" y="407047"/>
                  </a:lnTo>
                  <a:lnTo>
                    <a:pt x="1471942" y="444969"/>
                  </a:lnTo>
                  <a:lnTo>
                    <a:pt x="1511960" y="475678"/>
                  </a:lnTo>
                  <a:lnTo>
                    <a:pt x="1557197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58"/>
                  </a:lnTo>
                  <a:lnTo>
                    <a:pt x="1754035" y="491540"/>
                  </a:lnTo>
                  <a:lnTo>
                    <a:pt x="1797710" y="466318"/>
                  </a:lnTo>
                  <a:lnTo>
                    <a:pt x="1835632" y="433057"/>
                  </a:lnTo>
                  <a:lnTo>
                    <a:pt x="1866341" y="393039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82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12075" y="2659062"/>
            <a:ext cx="229743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0" dirty="0">
                <a:solidFill>
                  <a:srgbClr val="333F6F"/>
                </a:solidFill>
                <a:latin typeface="Verdana"/>
                <a:cs typeface="Verdana"/>
              </a:rPr>
              <a:t>sales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sale_id</a:t>
            </a:r>
            <a:r>
              <a:rPr sz="1350" spc="-1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333F6F"/>
                </a:solidFill>
                <a:latin typeface="Trebuchet MS"/>
                <a:cs typeface="Trebuchet MS"/>
              </a:rPr>
              <a:t>(PK),</a:t>
            </a:r>
            <a:r>
              <a:rPr sz="1350" spc="-1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game_id</a:t>
            </a:r>
            <a:r>
              <a:rPr sz="1350" spc="-1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(FK),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discount_percent,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sale_start, sale_end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4" y="4229100"/>
            <a:ext cx="5029200" cy="1790700"/>
            <a:chOff x="600074" y="4229100"/>
            <a:chExt cx="5029200" cy="1790700"/>
          </a:xfrm>
        </p:grpSpPr>
        <p:sp>
          <p:nvSpPr>
            <p:cNvPr id="20" name="object 20"/>
            <p:cNvSpPr/>
            <p:nvPr/>
          </p:nvSpPr>
          <p:spPr>
            <a:xfrm>
              <a:off x="609599" y="4486274"/>
              <a:ext cx="5010150" cy="1524000"/>
            </a:xfrm>
            <a:custGeom>
              <a:avLst/>
              <a:gdLst/>
              <a:ahLst/>
              <a:cxnLst/>
              <a:rect l="l" t="t" r="r" b="b"/>
              <a:pathLst>
                <a:path w="5010150" h="1524000">
                  <a:moveTo>
                    <a:pt x="4962982" y="1523999"/>
                  </a:moveTo>
                  <a:lnTo>
                    <a:pt x="47167" y="1523999"/>
                  </a:lnTo>
                  <a:lnTo>
                    <a:pt x="43884" y="1523676"/>
                  </a:lnTo>
                  <a:lnTo>
                    <a:pt x="10349" y="1504319"/>
                  </a:lnTo>
                  <a:lnTo>
                    <a:pt x="0" y="1476832"/>
                  </a:lnTo>
                  <a:lnTo>
                    <a:pt x="0" y="147351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4947852" y="0"/>
                  </a:lnTo>
                  <a:lnTo>
                    <a:pt x="4984156" y="15621"/>
                  </a:lnTo>
                  <a:lnTo>
                    <a:pt x="5006749" y="51661"/>
                  </a:lnTo>
                  <a:lnTo>
                    <a:pt x="5010149" y="71196"/>
                  </a:lnTo>
                  <a:lnTo>
                    <a:pt x="5010149" y="1476832"/>
                  </a:lnTo>
                  <a:lnTo>
                    <a:pt x="4993018" y="1511556"/>
                  </a:lnTo>
                  <a:lnTo>
                    <a:pt x="4966265" y="1523676"/>
                  </a:lnTo>
                  <a:lnTo>
                    <a:pt x="4962982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62" y="4487125"/>
              <a:ext cx="5029200" cy="1532890"/>
            </a:xfrm>
            <a:custGeom>
              <a:avLst/>
              <a:gdLst/>
              <a:ahLst/>
              <a:cxnLst/>
              <a:rect l="l" t="t" r="r" b="b"/>
              <a:pathLst>
                <a:path w="5029200" h="1532889">
                  <a:moveTo>
                    <a:pt x="5029200" y="75361"/>
                  </a:moveTo>
                  <a:lnTo>
                    <a:pt x="5016373" y="33007"/>
                  </a:lnTo>
                  <a:lnTo>
                    <a:pt x="4982172" y="4953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80" y="8826"/>
                  </a:lnTo>
                  <a:lnTo>
                    <a:pt x="5005806" y="46189"/>
                  </a:lnTo>
                  <a:lnTo>
                    <a:pt x="5010150" y="75361"/>
                  </a:lnTo>
                  <a:lnTo>
                    <a:pt x="5010150" y="1472679"/>
                  </a:lnTo>
                  <a:lnTo>
                    <a:pt x="4997640" y="1502067"/>
                  </a:lnTo>
                  <a:lnTo>
                    <a:pt x="4991849" y="1506880"/>
                  </a:lnTo>
                  <a:lnTo>
                    <a:pt x="4984915" y="1510626"/>
                  </a:lnTo>
                  <a:lnTo>
                    <a:pt x="4977371" y="1512874"/>
                  </a:lnTo>
                  <a:lnTo>
                    <a:pt x="496919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401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29"/>
                  </a:lnTo>
                  <a:lnTo>
                    <a:pt x="17576" y="1515110"/>
                  </a:lnTo>
                  <a:lnTo>
                    <a:pt x="52057" y="1532686"/>
                  </a:lnTo>
                  <a:lnTo>
                    <a:pt x="4977155" y="1532686"/>
                  </a:lnTo>
                  <a:lnTo>
                    <a:pt x="4984813" y="1531162"/>
                  </a:lnTo>
                  <a:lnTo>
                    <a:pt x="4999520" y="1525066"/>
                  </a:lnTo>
                  <a:lnTo>
                    <a:pt x="5006010" y="1520736"/>
                  </a:lnTo>
                  <a:lnTo>
                    <a:pt x="5011636" y="1515110"/>
                  </a:lnTo>
                  <a:lnTo>
                    <a:pt x="5017262" y="1509471"/>
                  </a:lnTo>
                  <a:lnTo>
                    <a:pt x="5021592" y="1502994"/>
                  </a:lnTo>
                  <a:lnTo>
                    <a:pt x="5027688" y="1488287"/>
                  </a:lnTo>
                  <a:lnTo>
                    <a:pt x="5029162" y="148084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0062" y="4229112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82"/>
                  </a:moveTo>
                  <a:lnTo>
                    <a:pt x="5014417" y="258483"/>
                  </a:lnTo>
                  <a:lnTo>
                    <a:pt x="4977041" y="238506"/>
                  </a:lnTo>
                  <a:lnTo>
                    <a:pt x="4973142" y="238112"/>
                  </a:lnTo>
                  <a:lnTo>
                    <a:pt x="2771140" y="238112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47" y="128511"/>
                  </a:lnTo>
                  <a:lnTo>
                    <a:pt x="2708059" y="87503"/>
                  </a:lnTo>
                  <a:lnTo>
                    <a:pt x="2671241" y="53022"/>
                  </a:lnTo>
                  <a:lnTo>
                    <a:pt x="2628404" y="26390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32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27" y="48018"/>
                  </a:lnTo>
                  <a:lnTo>
                    <a:pt x="2326805" y="81280"/>
                  </a:lnTo>
                  <a:lnTo>
                    <a:pt x="2296096" y="121297"/>
                  </a:lnTo>
                  <a:lnTo>
                    <a:pt x="2273782" y="166535"/>
                  </a:lnTo>
                  <a:lnTo>
                    <a:pt x="2260727" y="215252"/>
                  </a:lnTo>
                  <a:lnTo>
                    <a:pt x="2258060" y="238112"/>
                  </a:lnTo>
                  <a:lnTo>
                    <a:pt x="56070" y="238112"/>
                  </a:lnTo>
                  <a:lnTo>
                    <a:pt x="20370" y="252907"/>
                  </a:lnTo>
                  <a:lnTo>
                    <a:pt x="393" y="290283"/>
                  </a:lnTo>
                  <a:lnTo>
                    <a:pt x="0" y="294182"/>
                  </a:lnTo>
                  <a:lnTo>
                    <a:pt x="0" y="314312"/>
                  </a:lnTo>
                  <a:lnTo>
                    <a:pt x="2263749" y="314312"/>
                  </a:lnTo>
                  <a:lnTo>
                    <a:pt x="2264016" y="315607"/>
                  </a:lnTo>
                  <a:lnTo>
                    <a:pt x="2280234" y="363372"/>
                  </a:lnTo>
                  <a:lnTo>
                    <a:pt x="2305456" y="407047"/>
                  </a:lnTo>
                  <a:lnTo>
                    <a:pt x="2338717" y="444969"/>
                  </a:lnTo>
                  <a:lnTo>
                    <a:pt x="2378735" y="475678"/>
                  </a:lnTo>
                  <a:lnTo>
                    <a:pt x="2423972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32" y="514350"/>
                  </a:lnTo>
                  <a:lnTo>
                    <a:pt x="2573045" y="507758"/>
                  </a:lnTo>
                  <a:lnTo>
                    <a:pt x="2620810" y="491540"/>
                  </a:lnTo>
                  <a:lnTo>
                    <a:pt x="2664485" y="466318"/>
                  </a:lnTo>
                  <a:lnTo>
                    <a:pt x="2702407" y="433057"/>
                  </a:lnTo>
                  <a:lnTo>
                    <a:pt x="2733116" y="393039"/>
                  </a:lnTo>
                  <a:lnTo>
                    <a:pt x="2755430" y="347802"/>
                  </a:lnTo>
                  <a:lnTo>
                    <a:pt x="2765450" y="314312"/>
                  </a:lnTo>
                  <a:lnTo>
                    <a:pt x="5029200" y="314312"/>
                  </a:lnTo>
                  <a:lnTo>
                    <a:pt x="5029200" y="294182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7874" y="4897437"/>
            <a:ext cx="3351529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0" dirty="0">
                <a:solidFill>
                  <a:srgbClr val="333F6F"/>
                </a:solidFill>
                <a:latin typeface="Verdana"/>
                <a:cs typeface="Verdana"/>
              </a:rPr>
              <a:t>users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user_id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333F6F"/>
                </a:solidFill>
                <a:latin typeface="Trebuchet MS"/>
                <a:cs typeface="Trebuchet MS"/>
              </a:rPr>
              <a:t>(PK),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name,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email,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333F6F"/>
                </a:solidFill>
                <a:latin typeface="Trebuchet MS"/>
                <a:cs typeface="Trebuchet MS"/>
              </a:rPr>
              <a:t>password_hash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00724" y="4229100"/>
            <a:ext cx="5029200" cy="1790700"/>
            <a:chOff x="5800724" y="4229100"/>
            <a:chExt cx="5029200" cy="1790700"/>
          </a:xfrm>
        </p:grpSpPr>
        <p:sp>
          <p:nvSpPr>
            <p:cNvPr id="25" name="object 25"/>
            <p:cNvSpPr/>
            <p:nvPr/>
          </p:nvSpPr>
          <p:spPr>
            <a:xfrm>
              <a:off x="5810249" y="4486274"/>
              <a:ext cx="5010150" cy="1524000"/>
            </a:xfrm>
            <a:custGeom>
              <a:avLst/>
              <a:gdLst/>
              <a:ahLst/>
              <a:cxnLst/>
              <a:rect l="l" t="t" r="r" b="b"/>
              <a:pathLst>
                <a:path w="5010150" h="1524000">
                  <a:moveTo>
                    <a:pt x="4962981" y="1523999"/>
                  </a:moveTo>
                  <a:lnTo>
                    <a:pt x="47167" y="1523999"/>
                  </a:lnTo>
                  <a:lnTo>
                    <a:pt x="43884" y="1523676"/>
                  </a:lnTo>
                  <a:lnTo>
                    <a:pt x="10348" y="1504319"/>
                  </a:lnTo>
                  <a:lnTo>
                    <a:pt x="0" y="1476832"/>
                  </a:lnTo>
                  <a:lnTo>
                    <a:pt x="0" y="147351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6" y="0"/>
                  </a:lnTo>
                  <a:lnTo>
                    <a:pt x="4947852" y="0"/>
                  </a:lnTo>
                  <a:lnTo>
                    <a:pt x="4984157" y="15621"/>
                  </a:lnTo>
                  <a:lnTo>
                    <a:pt x="5006748" y="51661"/>
                  </a:lnTo>
                  <a:lnTo>
                    <a:pt x="5010148" y="71196"/>
                  </a:lnTo>
                  <a:lnTo>
                    <a:pt x="5010148" y="1476832"/>
                  </a:lnTo>
                  <a:lnTo>
                    <a:pt x="4993020" y="1511556"/>
                  </a:lnTo>
                  <a:lnTo>
                    <a:pt x="4966263" y="1523676"/>
                  </a:lnTo>
                  <a:lnTo>
                    <a:pt x="4962981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00712" y="4487125"/>
              <a:ext cx="5029200" cy="1532890"/>
            </a:xfrm>
            <a:custGeom>
              <a:avLst/>
              <a:gdLst/>
              <a:ahLst/>
              <a:cxnLst/>
              <a:rect l="l" t="t" r="r" b="b"/>
              <a:pathLst>
                <a:path w="5029200" h="1532889">
                  <a:moveTo>
                    <a:pt x="5029200" y="75361"/>
                  </a:moveTo>
                  <a:lnTo>
                    <a:pt x="5016373" y="33007"/>
                  </a:lnTo>
                  <a:lnTo>
                    <a:pt x="4982159" y="4953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80" y="8826"/>
                  </a:lnTo>
                  <a:lnTo>
                    <a:pt x="5005806" y="46189"/>
                  </a:lnTo>
                  <a:lnTo>
                    <a:pt x="5010150" y="75361"/>
                  </a:lnTo>
                  <a:lnTo>
                    <a:pt x="5010150" y="1472679"/>
                  </a:lnTo>
                  <a:lnTo>
                    <a:pt x="4997640" y="1502067"/>
                  </a:lnTo>
                  <a:lnTo>
                    <a:pt x="4991849" y="1506880"/>
                  </a:lnTo>
                  <a:lnTo>
                    <a:pt x="4984915" y="1510626"/>
                  </a:lnTo>
                  <a:lnTo>
                    <a:pt x="4977371" y="1512874"/>
                  </a:lnTo>
                  <a:lnTo>
                    <a:pt x="496919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401"/>
                  </a:lnTo>
                  <a:lnTo>
                    <a:pt x="19799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29"/>
                  </a:lnTo>
                  <a:lnTo>
                    <a:pt x="1524" y="1488287"/>
                  </a:lnTo>
                  <a:lnTo>
                    <a:pt x="7620" y="1502981"/>
                  </a:lnTo>
                  <a:lnTo>
                    <a:pt x="11950" y="1509471"/>
                  </a:lnTo>
                  <a:lnTo>
                    <a:pt x="18059" y="1515579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57" y="1532686"/>
                  </a:lnTo>
                  <a:lnTo>
                    <a:pt x="4977155" y="1532686"/>
                  </a:lnTo>
                  <a:lnTo>
                    <a:pt x="4984813" y="1531162"/>
                  </a:lnTo>
                  <a:lnTo>
                    <a:pt x="4999507" y="1525066"/>
                  </a:lnTo>
                  <a:lnTo>
                    <a:pt x="5005997" y="1520736"/>
                  </a:lnTo>
                  <a:lnTo>
                    <a:pt x="5011140" y="1515579"/>
                  </a:lnTo>
                  <a:lnTo>
                    <a:pt x="5011623" y="1515097"/>
                  </a:lnTo>
                  <a:lnTo>
                    <a:pt x="5017249" y="1509471"/>
                  </a:lnTo>
                  <a:lnTo>
                    <a:pt x="5021592" y="1502994"/>
                  </a:lnTo>
                  <a:lnTo>
                    <a:pt x="5027676" y="1488287"/>
                  </a:lnTo>
                  <a:lnTo>
                    <a:pt x="5029162" y="148084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00712" y="4229112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82"/>
                  </a:moveTo>
                  <a:lnTo>
                    <a:pt x="5014417" y="258483"/>
                  </a:lnTo>
                  <a:lnTo>
                    <a:pt x="4977041" y="238506"/>
                  </a:lnTo>
                  <a:lnTo>
                    <a:pt x="4973142" y="238112"/>
                  </a:lnTo>
                  <a:lnTo>
                    <a:pt x="2771140" y="238112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47" y="128511"/>
                  </a:lnTo>
                  <a:lnTo>
                    <a:pt x="2708059" y="87503"/>
                  </a:lnTo>
                  <a:lnTo>
                    <a:pt x="2671241" y="53022"/>
                  </a:lnTo>
                  <a:lnTo>
                    <a:pt x="2628404" y="26390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32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27" y="48018"/>
                  </a:lnTo>
                  <a:lnTo>
                    <a:pt x="2326805" y="81280"/>
                  </a:lnTo>
                  <a:lnTo>
                    <a:pt x="2296096" y="121297"/>
                  </a:lnTo>
                  <a:lnTo>
                    <a:pt x="2273782" y="166535"/>
                  </a:lnTo>
                  <a:lnTo>
                    <a:pt x="2260727" y="215252"/>
                  </a:lnTo>
                  <a:lnTo>
                    <a:pt x="2258060" y="238112"/>
                  </a:lnTo>
                  <a:lnTo>
                    <a:pt x="56070" y="238112"/>
                  </a:lnTo>
                  <a:lnTo>
                    <a:pt x="20370" y="252907"/>
                  </a:lnTo>
                  <a:lnTo>
                    <a:pt x="393" y="290283"/>
                  </a:lnTo>
                  <a:lnTo>
                    <a:pt x="0" y="294182"/>
                  </a:lnTo>
                  <a:lnTo>
                    <a:pt x="0" y="314312"/>
                  </a:lnTo>
                  <a:lnTo>
                    <a:pt x="2263749" y="314312"/>
                  </a:lnTo>
                  <a:lnTo>
                    <a:pt x="2264016" y="315607"/>
                  </a:lnTo>
                  <a:lnTo>
                    <a:pt x="2280234" y="363372"/>
                  </a:lnTo>
                  <a:lnTo>
                    <a:pt x="2305456" y="407047"/>
                  </a:lnTo>
                  <a:lnTo>
                    <a:pt x="2338717" y="444969"/>
                  </a:lnTo>
                  <a:lnTo>
                    <a:pt x="2378735" y="475678"/>
                  </a:lnTo>
                  <a:lnTo>
                    <a:pt x="2423972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32" y="514350"/>
                  </a:lnTo>
                  <a:lnTo>
                    <a:pt x="2573045" y="507758"/>
                  </a:lnTo>
                  <a:lnTo>
                    <a:pt x="2620810" y="491540"/>
                  </a:lnTo>
                  <a:lnTo>
                    <a:pt x="2664485" y="466318"/>
                  </a:lnTo>
                  <a:lnTo>
                    <a:pt x="2702407" y="433057"/>
                  </a:lnTo>
                  <a:lnTo>
                    <a:pt x="2733116" y="393039"/>
                  </a:lnTo>
                  <a:lnTo>
                    <a:pt x="2755430" y="347802"/>
                  </a:lnTo>
                  <a:lnTo>
                    <a:pt x="2765450" y="314312"/>
                  </a:lnTo>
                  <a:lnTo>
                    <a:pt x="5029200" y="314312"/>
                  </a:lnTo>
                  <a:lnTo>
                    <a:pt x="5029200" y="294182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78524" y="4897437"/>
            <a:ext cx="3516629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0" dirty="0">
                <a:solidFill>
                  <a:srgbClr val="333F6F"/>
                </a:solidFill>
                <a:latin typeface="Verdana"/>
                <a:cs typeface="Verdana"/>
              </a:rPr>
              <a:t>rankings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rank_id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333F6F"/>
                </a:solidFill>
                <a:latin typeface="Trebuchet MS"/>
                <a:cs typeface="Trebuchet MS"/>
              </a:rPr>
              <a:t>(PK),</a:t>
            </a:r>
            <a:r>
              <a:rPr sz="1350" spc="1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game_id</a:t>
            </a:r>
            <a:r>
              <a:rPr sz="1350" spc="5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75" dirty="0">
                <a:solidFill>
                  <a:srgbClr val="333F6F"/>
                </a:solidFill>
                <a:latin typeface="Trebuchet MS"/>
                <a:cs typeface="Trebuchet MS"/>
              </a:rPr>
              <a:t>(FK),</a:t>
            </a:r>
            <a:r>
              <a:rPr sz="1350" spc="1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popularity_score, </a:t>
            </a:r>
            <a:r>
              <a:rPr sz="1350" dirty="0">
                <a:solidFill>
                  <a:srgbClr val="333F6F"/>
                </a:solidFill>
                <a:latin typeface="Trebuchet MS"/>
                <a:cs typeface="Trebuchet MS"/>
              </a:rPr>
              <a:t>rank_position,</a:t>
            </a:r>
            <a:r>
              <a:rPr sz="1350" spc="110" dirty="0">
                <a:solidFill>
                  <a:srgbClr val="33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33F6F"/>
                </a:solidFill>
                <a:latin typeface="Trebuchet MS"/>
                <a:cs typeface="Trebuchet MS"/>
              </a:rPr>
              <a:t>computed_at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531984" y="5987033"/>
            <a:ext cx="1885950" cy="481965"/>
            <a:chOff x="9531984" y="5987033"/>
            <a:chExt cx="1885950" cy="48196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87033"/>
              <a:ext cx="1754504" cy="4191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537699" y="6074663"/>
              <a:ext cx="1874520" cy="388620"/>
            </a:xfrm>
            <a:custGeom>
              <a:avLst/>
              <a:gdLst/>
              <a:ahLst/>
              <a:cxnLst/>
              <a:rect l="l" t="t" r="r" b="b"/>
              <a:pathLst>
                <a:path w="1874520" h="388620">
                  <a:moveTo>
                    <a:pt x="1874520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1874520" y="388620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37699" y="6074663"/>
              <a:ext cx="1874520" cy="388620"/>
            </a:xfrm>
            <a:custGeom>
              <a:avLst/>
              <a:gdLst/>
              <a:ahLst/>
              <a:cxnLst/>
              <a:rect l="l" t="t" r="r" b="b"/>
              <a:pathLst>
                <a:path w="1874520" h="388620">
                  <a:moveTo>
                    <a:pt x="0" y="388620"/>
                  </a:moveTo>
                  <a:lnTo>
                    <a:pt x="1874520" y="388620"/>
                  </a:lnTo>
                  <a:lnTo>
                    <a:pt x="1874520" y="0"/>
                  </a:lnTo>
                  <a:lnTo>
                    <a:pt x="0" y="0"/>
                  </a:lnTo>
                  <a:lnTo>
                    <a:pt x="0" y="38862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68325"/>
            <a:ext cx="4060190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190" dirty="0"/>
              <a:t>Ranking</a:t>
            </a:r>
            <a:r>
              <a:rPr spc="-240" dirty="0"/>
              <a:t> </a:t>
            </a:r>
            <a:r>
              <a:rPr spc="225" dirty="0"/>
              <a:t>Formula</a:t>
            </a:r>
            <a:r>
              <a:rPr spc="-240" dirty="0"/>
              <a:t> </a:t>
            </a:r>
            <a:r>
              <a:rPr spc="155" dirty="0"/>
              <a:t>&amp; </a:t>
            </a:r>
            <a:r>
              <a:rPr spc="190" dirty="0"/>
              <a:t>Rationale</a:t>
            </a:r>
          </a:p>
        </p:txBody>
      </p:sp>
      <p:sp>
        <p:nvSpPr>
          <p:cNvPr id="4" name="object 4"/>
          <p:cNvSpPr/>
          <p:nvPr/>
        </p:nvSpPr>
        <p:spPr>
          <a:xfrm>
            <a:off x="4867275" y="2714624"/>
            <a:ext cx="5981700" cy="38100"/>
          </a:xfrm>
          <a:custGeom>
            <a:avLst/>
            <a:gdLst/>
            <a:ahLst/>
            <a:cxnLst/>
            <a:rect l="l" t="t" r="r" b="b"/>
            <a:pathLst>
              <a:path w="5981700" h="38100">
                <a:moveTo>
                  <a:pt x="5981700" y="0"/>
                </a:moveTo>
                <a:lnTo>
                  <a:pt x="0" y="0"/>
                </a:lnTo>
                <a:lnTo>
                  <a:pt x="0" y="38100"/>
                </a:lnTo>
                <a:lnTo>
                  <a:pt x="5981700" y="38100"/>
                </a:lnTo>
                <a:lnTo>
                  <a:pt x="5981700" y="0"/>
                </a:lnTo>
                <a:close/>
              </a:path>
            </a:pathLst>
          </a:custGeom>
          <a:solidFill>
            <a:srgbClr val="25A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76800" y="3305175"/>
            <a:ext cx="5572125" cy="228600"/>
          </a:xfrm>
          <a:custGeom>
            <a:avLst/>
            <a:gdLst/>
            <a:ahLst/>
            <a:cxnLst/>
            <a:rect l="l" t="t" r="r" b="b"/>
            <a:pathLst>
              <a:path w="5572125" h="228600">
                <a:moveTo>
                  <a:pt x="55535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5553532" y="228600"/>
                </a:lnTo>
                <a:lnTo>
                  <a:pt x="5572125" y="210007"/>
                </a:lnTo>
                <a:lnTo>
                  <a:pt x="5572125" y="18592"/>
                </a:lnTo>
                <a:lnTo>
                  <a:pt x="5556275" y="546"/>
                </a:lnTo>
                <a:lnTo>
                  <a:pt x="55535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6800" y="3581400"/>
            <a:ext cx="1009650" cy="228600"/>
          </a:xfrm>
          <a:custGeom>
            <a:avLst/>
            <a:gdLst/>
            <a:ahLst/>
            <a:cxnLst/>
            <a:rect l="l" t="t" r="r" b="b"/>
            <a:pathLst>
              <a:path w="1009650" h="228600">
                <a:moveTo>
                  <a:pt x="9910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991057" y="228600"/>
                </a:lnTo>
                <a:lnTo>
                  <a:pt x="1009650" y="210007"/>
                </a:lnTo>
                <a:lnTo>
                  <a:pt x="1009650" y="18592"/>
                </a:lnTo>
                <a:lnTo>
                  <a:pt x="993800" y="546"/>
                </a:lnTo>
                <a:lnTo>
                  <a:pt x="9910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73625" y="1640839"/>
            <a:ext cx="5932805" cy="2168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Use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weighted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score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</a:t>
            </a:r>
            <a:r>
              <a:rPr sz="1350" spc="4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balance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live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323F6F"/>
                </a:solidFill>
                <a:latin typeface="Trebuchet MS"/>
                <a:cs typeface="Trebuchet MS"/>
              </a:rPr>
              <a:t>activity,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promotional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intensity</a:t>
            </a:r>
            <a:r>
              <a:rPr sz="1350" spc="4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and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user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sentiment.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Tunable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weights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make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the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ranking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responsive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to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business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goals.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165" dirty="0">
                <a:solidFill>
                  <a:srgbClr val="323F6F"/>
                </a:solidFill>
                <a:latin typeface="Verdana"/>
                <a:cs typeface="Verdana"/>
              </a:rPr>
              <a:t>Example</a:t>
            </a:r>
            <a:r>
              <a:rPr sz="1650" b="1" spc="-1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160" dirty="0">
                <a:solidFill>
                  <a:srgbClr val="323F6F"/>
                </a:solidFill>
                <a:latin typeface="Verdana"/>
                <a:cs typeface="Verdana"/>
              </a:rPr>
              <a:t>formula</a:t>
            </a:r>
            <a:endParaRPr sz="1650">
              <a:latin typeface="Verdana"/>
              <a:cs typeface="Verdana"/>
            </a:endParaRPr>
          </a:p>
          <a:p>
            <a:pPr marL="12700" marR="39751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popularity_score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=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(current_players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240" dirty="0">
                <a:solidFill>
                  <a:srgbClr val="323F6F"/>
                </a:solidFill>
                <a:latin typeface="Trebuchet MS"/>
                <a:cs typeface="Trebuchet MS"/>
              </a:rPr>
              <a:t>*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323F6F"/>
                </a:solidFill>
                <a:latin typeface="Trebuchet MS"/>
                <a:cs typeface="Trebuchet MS"/>
              </a:rPr>
              <a:t>0.6)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+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(discount_percent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240" dirty="0">
                <a:solidFill>
                  <a:srgbClr val="323F6F"/>
                </a:solidFill>
                <a:latin typeface="Trebuchet MS"/>
                <a:cs typeface="Trebuchet MS"/>
              </a:rPr>
              <a:t>*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323F6F"/>
                </a:solidFill>
                <a:latin typeface="Trebuchet MS"/>
                <a:cs typeface="Trebuchet MS"/>
              </a:rPr>
              <a:t>0.2)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+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(rating</a:t>
            </a:r>
            <a:r>
              <a:rPr sz="1350" spc="-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240" dirty="0">
                <a:solidFill>
                  <a:srgbClr val="323F6F"/>
                </a:solidFill>
                <a:latin typeface="Trebuchet MS"/>
                <a:cs typeface="Trebuchet MS"/>
              </a:rPr>
              <a:t>*</a:t>
            </a:r>
            <a:r>
              <a:rPr sz="1350" spc="-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0.2)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67275" y="4181475"/>
            <a:ext cx="5981700" cy="38100"/>
          </a:xfrm>
          <a:custGeom>
            <a:avLst/>
            <a:gdLst/>
            <a:ahLst/>
            <a:cxnLst/>
            <a:rect l="l" t="t" r="r" b="b"/>
            <a:pathLst>
              <a:path w="5981700" h="38100">
                <a:moveTo>
                  <a:pt x="5981700" y="0"/>
                </a:moveTo>
                <a:lnTo>
                  <a:pt x="0" y="0"/>
                </a:lnTo>
                <a:lnTo>
                  <a:pt x="0" y="38100"/>
                </a:lnTo>
                <a:lnTo>
                  <a:pt x="5981700" y="38100"/>
                </a:lnTo>
                <a:lnTo>
                  <a:pt x="5981700" y="0"/>
                </a:lnTo>
                <a:close/>
              </a:path>
            </a:pathLst>
          </a:custGeom>
          <a:solidFill>
            <a:srgbClr val="25A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73625" y="4373562"/>
            <a:ext cx="5916295" cy="1455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95" dirty="0">
                <a:solidFill>
                  <a:srgbClr val="323F6F"/>
                </a:solidFill>
                <a:latin typeface="Verdana"/>
                <a:cs typeface="Verdana"/>
              </a:rPr>
              <a:t>Notes</a:t>
            </a:r>
            <a:endParaRPr sz="1650">
              <a:latin typeface="Verdana"/>
              <a:cs typeface="Verdana"/>
            </a:endParaRPr>
          </a:p>
          <a:p>
            <a:pPr marL="12700" marR="5080" indent="99695">
              <a:lnSpc>
                <a:spcPct val="134300"/>
              </a:lnSpc>
              <a:spcBef>
                <a:spcPts val="615"/>
              </a:spcBef>
              <a:buChar char="-"/>
              <a:tabLst>
                <a:tab pos="112395" algn="l"/>
              </a:tabLst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current_players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is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the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latest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sampled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value;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consider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smoothing</a:t>
            </a:r>
            <a:r>
              <a:rPr sz="1350" spc="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(EMA)</a:t>
            </a:r>
            <a:r>
              <a:rPr sz="1350" spc="1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323F6F"/>
                </a:solidFill>
                <a:latin typeface="Trebuchet MS"/>
                <a:cs typeface="Trebuchet MS"/>
              </a:rPr>
              <a:t>to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reduce</a:t>
            </a:r>
            <a:r>
              <a:rPr sz="1350" spc="14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noise.</a:t>
            </a:r>
            <a:endParaRPr sz="1350">
              <a:latin typeface="Trebuchet MS"/>
              <a:cs typeface="Trebuchet MS"/>
            </a:endParaRPr>
          </a:p>
          <a:p>
            <a:pPr marL="112395" indent="-99695">
              <a:lnSpc>
                <a:spcPct val="100000"/>
              </a:lnSpc>
              <a:spcBef>
                <a:spcPts val="555"/>
              </a:spcBef>
              <a:buChar char="-"/>
              <a:tabLst>
                <a:tab pos="112395" algn="l"/>
              </a:tabLst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discount_percent</a:t>
            </a:r>
            <a:r>
              <a:rPr sz="1350" spc="8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uses</a:t>
            </a:r>
            <a:r>
              <a:rPr sz="1350" spc="8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numeric</a:t>
            </a:r>
            <a:r>
              <a:rPr sz="1350" spc="8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value</a:t>
            </a:r>
            <a:r>
              <a:rPr sz="1350" spc="8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(0–100).</a:t>
            </a:r>
            <a:endParaRPr sz="1350">
              <a:latin typeface="Trebuchet MS"/>
              <a:cs typeface="Trebuchet MS"/>
            </a:endParaRPr>
          </a:p>
          <a:p>
            <a:pPr marL="112395" indent="-99695">
              <a:lnSpc>
                <a:spcPct val="100000"/>
              </a:lnSpc>
              <a:spcBef>
                <a:spcPts val="480"/>
              </a:spcBef>
              <a:buChar char="-"/>
              <a:tabLst>
                <a:tab pos="112395" algn="l"/>
              </a:tabLst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rating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is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normalized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same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scale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as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players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or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scaled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before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weighting.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93884" y="5926073"/>
            <a:ext cx="1900555" cy="520065"/>
            <a:chOff x="9493884" y="5926073"/>
            <a:chExt cx="1900555" cy="5200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499599" y="5984335"/>
              <a:ext cx="1889125" cy="456565"/>
            </a:xfrm>
            <a:custGeom>
              <a:avLst/>
              <a:gdLst/>
              <a:ahLst/>
              <a:cxnLst/>
              <a:rect l="l" t="t" r="r" b="b"/>
              <a:pathLst>
                <a:path w="1889125" h="456564">
                  <a:moveTo>
                    <a:pt x="1888807" y="0"/>
                  </a:moveTo>
                  <a:lnTo>
                    <a:pt x="0" y="0"/>
                  </a:lnTo>
                  <a:lnTo>
                    <a:pt x="0" y="456088"/>
                  </a:lnTo>
                  <a:lnTo>
                    <a:pt x="1888807" y="456088"/>
                  </a:lnTo>
                  <a:lnTo>
                    <a:pt x="1888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99599" y="5984335"/>
              <a:ext cx="1889125" cy="456565"/>
            </a:xfrm>
            <a:custGeom>
              <a:avLst/>
              <a:gdLst/>
              <a:ahLst/>
              <a:cxnLst/>
              <a:rect l="l" t="t" r="r" b="b"/>
              <a:pathLst>
                <a:path w="1889125" h="456564">
                  <a:moveTo>
                    <a:pt x="1888807" y="456088"/>
                  </a:moveTo>
                  <a:lnTo>
                    <a:pt x="1888807" y="0"/>
                  </a:lnTo>
                  <a:lnTo>
                    <a:pt x="0" y="0"/>
                  </a:lnTo>
                  <a:lnTo>
                    <a:pt x="0" y="456088"/>
                  </a:lnTo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596900"/>
            <a:ext cx="511111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5" dirty="0"/>
              <a:t>Data</a:t>
            </a:r>
            <a:r>
              <a:rPr spc="-254" dirty="0"/>
              <a:t> </a:t>
            </a:r>
            <a:r>
              <a:rPr spc="225" dirty="0"/>
              <a:t>Flow</a:t>
            </a:r>
            <a:r>
              <a:rPr spc="-325" dirty="0"/>
              <a:t> </a:t>
            </a:r>
            <a:r>
              <a:rPr spc="204" dirty="0"/>
              <a:t>&amp;</a:t>
            </a:r>
            <a:r>
              <a:rPr spc="-365" dirty="0"/>
              <a:t> </a:t>
            </a:r>
            <a:r>
              <a:rPr spc="229" dirty="0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207" y="1566190"/>
            <a:ext cx="9531713" cy="20259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75318" y="4172469"/>
            <a:ext cx="8686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70" dirty="0">
                <a:solidFill>
                  <a:srgbClr val="323F6F"/>
                </a:solidFill>
                <a:latin typeface="Verdana"/>
                <a:cs typeface="Verdana"/>
              </a:rPr>
              <a:t>Score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5784" y="4008806"/>
            <a:ext cx="1423035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745" marR="5080" indent="-614680">
              <a:lnSpc>
                <a:spcPct val="108100"/>
              </a:lnSpc>
              <a:spcBef>
                <a:spcPts val="95"/>
              </a:spcBef>
            </a:pPr>
            <a:r>
              <a:rPr sz="1800" b="1" spc="195" dirty="0">
                <a:solidFill>
                  <a:srgbClr val="323F6F"/>
                </a:solidFill>
                <a:latin typeface="Verdana"/>
                <a:cs typeface="Verdana"/>
              </a:rPr>
              <a:t>Aggregat </a:t>
            </a:r>
            <a:r>
              <a:rPr sz="1800" b="1" spc="70" dirty="0">
                <a:solidFill>
                  <a:srgbClr val="323F6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5973" y="4172469"/>
            <a:ext cx="11588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60" dirty="0">
                <a:solidFill>
                  <a:srgbClr val="323F6F"/>
                </a:solidFill>
                <a:latin typeface="Verdana"/>
                <a:cs typeface="Verdana"/>
              </a:rPr>
              <a:t>Ratings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7919" y="4008806"/>
            <a:ext cx="1030605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8100"/>
              </a:lnSpc>
              <a:spcBef>
                <a:spcPts val="95"/>
              </a:spcBef>
            </a:pPr>
            <a:r>
              <a:rPr sz="1800" b="1" spc="165" dirty="0">
                <a:solidFill>
                  <a:srgbClr val="323F6F"/>
                </a:solidFill>
                <a:latin typeface="Verdana"/>
                <a:cs typeface="Verdana"/>
              </a:rPr>
              <a:t>Sales </a:t>
            </a:r>
            <a:r>
              <a:rPr sz="1800" b="1" spc="170" dirty="0">
                <a:solidFill>
                  <a:srgbClr val="323F6F"/>
                </a:solidFill>
                <a:latin typeface="Verdana"/>
                <a:cs typeface="Verdana"/>
              </a:rPr>
              <a:t>Events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9325" y="4172469"/>
            <a:ext cx="14827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20" dirty="0">
                <a:solidFill>
                  <a:srgbClr val="323F6F"/>
                </a:solidFill>
                <a:latin typeface="Verdana"/>
                <a:cs typeface="Verdana"/>
              </a:rPr>
              <a:t>Telemetry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5" y="5231763"/>
            <a:ext cx="958596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Pipeline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handles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periodic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ingestion,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aggregation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(hourly),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score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computation,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materialised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ranking</a:t>
            </a:r>
            <a:r>
              <a:rPr sz="1350" spc="10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table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updated</a:t>
            </a:r>
            <a:r>
              <a:rPr sz="1350" spc="1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on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schedule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or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triggered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by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major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events.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54184" y="5815107"/>
            <a:ext cx="1980564" cy="593090"/>
            <a:chOff x="9354184" y="5815107"/>
            <a:chExt cx="1980564" cy="5930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359899" y="5820822"/>
              <a:ext cx="1953260" cy="581660"/>
            </a:xfrm>
            <a:custGeom>
              <a:avLst/>
              <a:gdLst/>
              <a:ahLst/>
              <a:cxnLst/>
              <a:rect l="l" t="t" r="r" b="b"/>
              <a:pathLst>
                <a:path w="1953259" h="581660">
                  <a:moveTo>
                    <a:pt x="1953101" y="0"/>
                  </a:moveTo>
                  <a:lnTo>
                    <a:pt x="0" y="0"/>
                  </a:lnTo>
                  <a:lnTo>
                    <a:pt x="0" y="581501"/>
                  </a:lnTo>
                  <a:lnTo>
                    <a:pt x="1953101" y="581501"/>
                  </a:lnTo>
                  <a:lnTo>
                    <a:pt x="1953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59899" y="5820822"/>
              <a:ext cx="1953260" cy="581660"/>
            </a:xfrm>
            <a:custGeom>
              <a:avLst/>
              <a:gdLst/>
              <a:ahLst/>
              <a:cxnLst/>
              <a:rect l="l" t="t" r="r" b="b"/>
              <a:pathLst>
                <a:path w="1953259" h="581660">
                  <a:moveTo>
                    <a:pt x="0" y="581501"/>
                  </a:moveTo>
                  <a:lnTo>
                    <a:pt x="1953101" y="581501"/>
                  </a:lnTo>
                  <a:lnTo>
                    <a:pt x="1953101" y="0"/>
                  </a:lnTo>
                  <a:lnTo>
                    <a:pt x="0" y="0"/>
                  </a:lnTo>
                  <a:lnTo>
                    <a:pt x="0" y="581501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Charts</a:t>
            </a:r>
            <a:r>
              <a:rPr spc="-240" dirty="0"/>
              <a:t> </a:t>
            </a:r>
            <a:r>
              <a:rPr spc="204" dirty="0"/>
              <a:t>&amp;</a:t>
            </a:r>
            <a:r>
              <a:rPr spc="-445" dirty="0"/>
              <a:t> </a:t>
            </a:r>
            <a:r>
              <a:rPr spc="245" dirty="0"/>
              <a:t>Visuals</a:t>
            </a:r>
            <a:r>
              <a:rPr spc="-235" dirty="0"/>
              <a:t> </a:t>
            </a:r>
            <a:r>
              <a:rPr spc="90" dirty="0"/>
              <a:t>(Frontend)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790700"/>
            <a:ext cx="6505574" cy="36290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53325" y="2133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3325" y="27336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3325" y="3343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53325" y="3952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534275" y="4581525"/>
            <a:ext cx="3305175" cy="1276350"/>
            <a:chOff x="7534275" y="4581525"/>
            <a:chExt cx="3305175" cy="1276350"/>
          </a:xfrm>
        </p:grpSpPr>
        <p:sp>
          <p:nvSpPr>
            <p:cNvPr id="9" name="object 9"/>
            <p:cNvSpPr/>
            <p:nvPr/>
          </p:nvSpPr>
          <p:spPr>
            <a:xfrm>
              <a:off x="7534275" y="4581525"/>
              <a:ext cx="3305175" cy="1276350"/>
            </a:xfrm>
            <a:custGeom>
              <a:avLst/>
              <a:gdLst/>
              <a:ahLst/>
              <a:cxnLst/>
              <a:rect l="l" t="t" r="r" b="b"/>
              <a:pathLst>
                <a:path w="3305175" h="1276350">
                  <a:moveTo>
                    <a:pt x="3249104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16341"/>
                  </a:lnTo>
                  <a:lnTo>
                    <a:pt x="0" y="1220280"/>
                  </a:lnTo>
                  <a:lnTo>
                    <a:pt x="14782" y="1255989"/>
                  </a:lnTo>
                  <a:lnTo>
                    <a:pt x="52158" y="1275962"/>
                  </a:lnTo>
                  <a:lnTo>
                    <a:pt x="56070" y="1276348"/>
                  </a:lnTo>
                  <a:lnTo>
                    <a:pt x="3249104" y="1276348"/>
                  </a:lnTo>
                  <a:lnTo>
                    <a:pt x="3284804" y="1261560"/>
                  </a:lnTo>
                  <a:lnTo>
                    <a:pt x="3304794" y="1224184"/>
                  </a:lnTo>
                  <a:lnTo>
                    <a:pt x="3305175" y="1220280"/>
                  </a:lnTo>
                  <a:lnTo>
                    <a:pt x="3305175" y="56070"/>
                  </a:lnTo>
                  <a:lnTo>
                    <a:pt x="3290392" y="20358"/>
                  </a:lnTo>
                  <a:lnTo>
                    <a:pt x="3253016" y="381"/>
                  </a:lnTo>
                  <a:lnTo>
                    <a:pt x="3249104" y="0"/>
                  </a:lnTo>
                  <a:close/>
                </a:path>
              </a:pathLst>
            </a:custGeom>
            <a:solidFill>
              <a:srgbClr val="C1F1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7868" y="4858943"/>
              <a:ext cx="150025" cy="15001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518006" y="1259840"/>
            <a:ext cx="3230880" cy="433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52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Key visual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components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build</a:t>
            </a:r>
            <a:r>
              <a:rPr sz="1350" spc="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with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Chart.js:</a:t>
            </a:r>
            <a:endParaRPr sz="1350">
              <a:latin typeface="Trebuchet MS"/>
              <a:cs typeface="Trebuchet MS"/>
            </a:endParaRPr>
          </a:p>
          <a:p>
            <a:pPr marL="286385" marR="508634">
              <a:lnSpc>
                <a:spcPct val="129600"/>
              </a:lnSpc>
              <a:spcBef>
                <a:spcPts val="1275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Time-series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323F6F"/>
                </a:solidFill>
                <a:latin typeface="Trebuchet MS"/>
                <a:cs typeface="Trebuchet MS"/>
              </a:rPr>
              <a:t>line: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active</a:t>
            </a:r>
            <a:r>
              <a:rPr sz="1350" spc="-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players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(support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zoom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&amp;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brush)</a:t>
            </a:r>
            <a:endParaRPr sz="1350">
              <a:latin typeface="Trebuchet MS"/>
              <a:cs typeface="Trebuchet MS"/>
            </a:endParaRPr>
          </a:p>
          <a:p>
            <a:pPr marL="286385" marR="421640">
              <a:lnSpc>
                <a:spcPct val="134300"/>
              </a:lnSpc>
              <a:spcBef>
                <a:spcPts val="45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Bar/column: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discount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impact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323F6F"/>
                </a:solidFill>
                <a:latin typeface="Trebuchet MS"/>
                <a:cs typeface="Trebuchet MS"/>
              </a:rPr>
              <a:t>vs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player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65" dirty="0">
                <a:solidFill>
                  <a:srgbClr val="323F6F"/>
                </a:solidFill>
                <a:latin typeface="Trebuchet MS"/>
                <a:cs typeface="Trebuchet MS"/>
              </a:rPr>
              <a:t>lift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during</a:t>
            </a:r>
            <a:r>
              <a:rPr sz="1350" spc="7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sale</a:t>
            </a:r>
            <a:endParaRPr sz="1350">
              <a:latin typeface="Trebuchet MS"/>
              <a:cs typeface="Trebuchet MS"/>
            </a:endParaRPr>
          </a:p>
          <a:p>
            <a:pPr marL="286385" marR="160655">
              <a:lnSpc>
                <a:spcPct val="134300"/>
              </a:lnSpc>
              <a:spcBef>
                <a:spcPts val="445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Top-10</a:t>
            </a:r>
            <a:r>
              <a:rPr sz="1350" spc="1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leaderboard:</a:t>
            </a:r>
            <a:r>
              <a:rPr sz="1350" spc="1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sortable</a:t>
            </a:r>
            <a:r>
              <a:rPr sz="1350" spc="1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table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with</a:t>
            </a:r>
            <a:r>
              <a:rPr sz="1350" spc="-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sparklines</a:t>
            </a:r>
            <a:endParaRPr sz="1350">
              <a:latin typeface="Trebuchet MS"/>
              <a:cs typeface="Trebuchet MS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Trend</a:t>
            </a:r>
            <a:r>
              <a:rPr sz="1350" spc="2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indicator: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300" dirty="0">
                <a:solidFill>
                  <a:srgbClr val="323F6F"/>
                </a:solidFill>
                <a:latin typeface="Trebuchet MS"/>
                <a:cs typeface="Trebuchet MS"/>
              </a:rPr>
              <a:t>%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change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over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24h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55" dirty="0">
                <a:solidFill>
                  <a:srgbClr val="323F6F"/>
                </a:solidFill>
                <a:latin typeface="Trebuchet MS"/>
                <a:cs typeface="Trebuchet MS"/>
              </a:rPr>
              <a:t>/ 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7d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350">
              <a:latin typeface="Trebuchet MS"/>
              <a:cs typeface="Trebuchet MS"/>
            </a:endParaRPr>
          </a:p>
          <a:p>
            <a:pPr marL="569595" marR="154305" algn="just">
              <a:lnSpc>
                <a:spcPct val="131900"/>
              </a:lnSpc>
            </a:pPr>
            <a:r>
              <a:rPr sz="1350" spc="70" dirty="0">
                <a:latin typeface="Trebuchet MS"/>
                <a:cs typeface="Trebuchet MS"/>
              </a:rPr>
              <a:t>Use</a:t>
            </a:r>
            <a:r>
              <a:rPr sz="1350" spc="13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server-side</a:t>
            </a:r>
            <a:r>
              <a:rPr sz="1350" spc="13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aggregation</a:t>
            </a:r>
            <a:r>
              <a:rPr sz="1350" spc="130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for </a:t>
            </a:r>
            <a:r>
              <a:rPr sz="1350" spc="10" dirty="0">
                <a:latin typeface="Trebuchet MS"/>
                <a:cs typeface="Trebuchet MS"/>
              </a:rPr>
              <a:t>sparklines</a:t>
            </a:r>
            <a:r>
              <a:rPr sz="1350" spc="65" dirty="0">
                <a:latin typeface="Trebuchet MS"/>
                <a:cs typeface="Trebuchet MS"/>
              </a:rPr>
              <a:t> </a:t>
            </a:r>
            <a:r>
              <a:rPr sz="1350" spc="10" dirty="0">
                <a:latin typeface="Trebuchet MS"/>
                <a:cs typeface="Trebuchet MS"/>
              </a:rPr>
              <a:t>to</a:t>
            </a:r>
            <a:r>
              <a:rPr sz="1350" spc="65" dirty="0">
                <a:latin typeface="Trebuchet MS"/>
                <a:cs typeface="Trebuchet MS"/>
              </a:rPr>
              <a:t> </a:t>
            </a:r>
            <a:r>
              <a:rPr sz="1350" spc="10" dirty="0">
                <a:latin typeface="Trebuchet MS"/>
                <a:cs typeface="Trebuchet MS"/>
              </a:rPr>
              <a:t>avoid</a:t>
            </a:r>
            <a:r>
              <a:rPr sz="1350" spc="6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transferring </a:t>
            </a:r>
            <a:r>
              <a:rPr sz="1350" dirty="0">
                <a:latin typeface="Trebuchet MS"/>
                <a:cs typeface="Trebuchet MS"/>
              </a:rPr>
              <a:t>large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time-series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to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clients.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519284" y="6014466"/>
            <a:ext cx="1815464" cy="469265"/>
            <a:chOff x="9519284" y="6014466"/>
            <a:chExt cx="1815464" cy="46926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014466"/>
              <a:ext cx="1754504" cy="4191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24999" y="6025102"/>
              <a:ext cx="1781810" cy="453390"/>
            </a:xfrm>
            <a:custGeom>
              <a:avLst/>
              <a:gdLst/>
              <a:ahLst/>
              <a:cxnLst/>
              <a:rect l="l" t="t" r="r" b="b"/>
              <a:pathLst>
                <a:path w="1781809" h="453389">
                  <a:moveTo>
                    <a:pt x="1781651" y="0"/>
                  </a:moveTo>
                  <a:lnTo>
                    <a:pt x="0" y="0"/>
                  </a:lnTo>
                  <a:lnTo>
                    <a:pt x="0" y="452913"/>
                  </a:lnTo>
                  <a:lnTo>
                    <a:pt x="1781651" y="452913"/>
                  </a:lnTo>
                  <a:lnTo>
                    <a:pt x="1781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4999" y="6025102"/>
              <a:ext cx="1781810" cy="453390"/>
            </a:xfrm>
            <a:custGeom>
              <a:avLst/>
              <a:gdLst/>
              <a:ahLst/>
              <a:cxnLst/>
              <a:rect l="l" t="t" r="r" b="b"/>
              <a:pathLst>
                <a:path w="1781809" h="453389">
                  <a:moveTo>
                    <a:pt x="0" y="452913"/>
                  </a:moveTo>
                  <a:lnTo>
                    <a:pt x="1781651" y="452913"/>
                  </a:lnTo>
                  <a:lnTo>
                    <a:pt x="1781651" y="0"/>
                  </a:lnTo>
                  <a:lnTo>
                    <a:pt x="0" y="0"/>
                  </a:lnTo>
                  <a:lnTo>
                    <a:pt x="0" y="452913"/>
                  </a:lnTo>
                  <a:close/>
                </a:path>
              </a:pathLst>
            </a:custGeom>
            <a:ln w="114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E4FD9-766C-1875-1BB8-2E11D2A6D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2" y="0"/>
            <a:ext cx="9896475" cy="659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8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5910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5198745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175" dirty="0"/>
              <a:t>Security,</a:t>
            </a:r>
            <a:r>
              <a:rPr spc="-285" dirty="0"/>
              <a:t> </a:t>
            </a:r>
            <a:r>
              <a:rPr spc="229" dirty="0"/>
              <a:t>Privacy</a:t>
            </a:r>
            <a:r>
              <a:rPr spc="-330" dirty="0"/>
              <a:t> </a:t>
            </a:r>
            <a:r>
              <a:rPr spc="204" dirty="0"/>
              <a:t>&amp;</a:t>
            </a:r>
            <a:r>
              <a:rPr spc="-360" dirty="0"/>
              <a:t> </a:t>
            </a:r>
            <a:r>
              <a:rPr spc="335" dirty="0"/>
              <a:t>Data </a:t>
            </a:r>
            <a:r>
              <a:rPr spc="190" dirty="0"/>
              <a:t>Quality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7444" y="1590675"/>
          <a:ext cx="5941060" cy="4497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095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50" b="1" spc="160" dirty="0">
                          <a:solidFill>
                            <a:srgbClr val="323F6F"/>
                          </a:solidFill>
                          <a:latin typeface="Verdana"/>
                          <a:cs typeface="Verdana"/>
                        </a:rPr>
                        <a:t>Authentication</a:t>
                      </a:r>
                      <a:endParaRPr sz="1650">
                        <a:latin typeface="Verdana"/>
                        <a:cs typeface="Verdana"/>
                      </a:endParaRPr>
                    </a:p>
                    <a:p>
                      <a:pPr marL="180340" marR="347980">
                        <a:lnSpc>
                          <a:spcPct val="129600"/>
                        </a:lnSpc>
                        <a:spcBef>
                          <a:spcPts val="690"/>
                        </a:spcBef>
                      </a:pP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Store</a:t>
                      </a:r>
                      <a:r>
                        <a:rPr sz="1350" spc="13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password_hash,</a:t>
                      </a:r>
                      <a:r>
                        <a:rPr sz="1350" spc="13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implement</a:t>
                      </a:r>
                      <a:r>
                        <a:rPr sz="1350" spc="13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salted</a:t>
                      </a:r>
                      <a:r>
                        <a:rPr sz="1350" spc="13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bcrypt/argon2;</a:t>
                      </a:r>
                      <a:r>
                        <a:rPr sz="1350" spc="13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offer</a:t>
                      </a:r>
                      <a:r>
                        <a:rPr sz="1350" spc="13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OAuth </a:t>
                      </a:r>
                      <a:r>
                        <a:rPr sz="1350" spc="-1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integration.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9050">
                      <a:solidFill>
                        <a:srgbClr val="BBDBD4"/>
                      </a:solidFill>
                      <a:prstDash val="solid"/>
                    </a:lnL>
                    <a:lnR w="28575">
                      <a:solidFill>
                        <a:srgbClr val="BBDBD4"/>
                      </a:solidFill>
                      <a:prstDash val="solid"/>
                    </a:lnR>
                    <a:lnT w="28575">
                      <a:solidFill>
                        <a:srgbClr val="BBDBD4"/>
                      </a:solidFill>
                      <a:prstDash val="solid"/>
                    </a:lnT>
                    <a:lnB w="28575">
                      <a:solidFill>
                        <a:srgbClr val="BBDB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BDBD4"/>
                      </a:solidFill>
                      <a:prstDash val="solid"/>
                    </a:lnL>
                    <a:lnT w="28575">
                      <a:solidFill>
                        <a:srgbClr val="BBDBD4"/>
                      </a:solidFill>
                      <a:prstDash val="solid"/>
                    </a:lnT>
                    <a:lnB w="28575">
                      <a:solidFill>
                        <a:srgbClr val="BBDB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475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50" b="1" spc="245" dirty="0">
                          <a:solidFill>
                            <a:srgbClr val="323F6F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650" b="1" spc="-195" dirty="0">
                          <a:solidFill>
                            <a:srgbClr val="323F6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50" b="1" spc="135" dirty="0">
                          <a:solidFill>
                            <a:srgbClr val="323F6F"/>
                          </a:solidFill>
                          <a:latin typeface="Verdana"/>
                          <a:cs typeface="Verdana"/>
                        </a:rPr>
                        <a:t>validation</a:t>
                      </a:r>
                      <a:endParaRPr sz="1650">
                        <a:latin typeface="Verdana"/>
                        <a:cs typeface="Verdana"/>
                      </a:endParaRPr>
                    </a:p>
                    <a:p>
                      <a:pPr marL="180340" marR="504825">
                        <a:lnSpc>
                          <a:spcPct val="134300"/>
                        </a:lnSpc>
                        <a:spcBef>
                          <a:spcPts val="615"/>
                        </a:spcBef>
                      </a:pP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Sanitise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inputs,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enforce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types,</a:t>
                      </a:r>
                      <a:r>
                        <a:rPr sz="1350" spc="9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discard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suspicious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telemetry</a:t>
                      </a:r>
                      <a:r>
                        <a:rPr sz="1350" spc="9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spikes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before</a:t>
                      </a:r>
                      <a:r>
                        <a:rPr sz="1350" spc="9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aggregation.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9050">
                      <a:solidFill>
                        <a:srgbClr val="BBDBD4"/>
                      </a:solidFill>
                      <a:prstDash val="solid"/>
                    </a:lnL>
                    <a:lnR w="28575">
                      <a:solidFill>
                        <a:srgbClr val="BBDBD4"/>
                      </a:solidFill>
                      <a:prstDash val="solid"/>
                    </a:lnR>
                    <a:lnT w="28575">
                      <a:solidFill>
                        <a:srgbClr val="BBDBD4"/>
                      </a:solidFill>
                      <a:prstDash val="solid"/>
                    </a:lnT>
                    <a:lnB w="28575">
                      <a:solidFill>
                        <a:srgbClr val="BBDB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BDBD4"/>
                      </a:solidFill>
                      <a:prstDash val="solid"/>
                    </a:lnL>
                    <a:lnT w="28575">
                      <a:solidFill>
                        <a:srgbClr val="BBDBD4"/>
                      </a:solidFill>
                      <a:prstDash val="solid"/>
                    </a:lnT>
                    <a:lnB w="28575">
                      <a:solidFill>
                        <a:srgbClr val="BBDB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095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50" b="1" spc="150" dirty="0">
                          <a:solidFill>
                            <a:srgbClr val="323F6F"/>
                          </a:solidFill>
                          <a:latin typeface="Verdana"/>
                          <a:cs typeface="Verdana"/>
                        </a:rPr>
                        <a:t>Privacy</a:t>
                      </a:r>
                      <a:endParaRPr sz="1650">
                        <a:latin typeface="Verdana"/>
                        <a:cs typeface="Verdana"/>
                      </a:endParaRPr>
                    </a:p>
                    <a:p>
                      <a:pPr marL="180340" marR="358775">
                        <a:lnSpc>
                          <a:spcPct val="129600"/>
                        </a:lnSpc>
                        <a:spcBef>
                          <a:spcPts val="690"/>
                        </a:spcBef>
                      </a:pPr>
                      <a:r>
                        <a:rPr sz="1350" spc="-2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Collect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only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necessary</a:t>
                      </a:r>
                      <a:r>
                        <a:rPr sz="1350" spc="9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data;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5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anonymise</a:t>
                      </a:r>
                      <a:r>
                        <a:rPr sz="1350" spc="9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PII;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GDPR-ready</a:t>
                      </a:r>
                      <a:r>
                        <a:rPr sz="1350" spc="8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controls</a:t>
                      </a:r>
                      <a:r>
                        <a:rPr sz="1350" spc="9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sz="1350" spc="5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user</a:t>
                      </a:r>
                      <a:r>
                        <a:rPr sz="1350" spc="-55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323F6F"/>
                          </a:solidFill>
                          <a:latin typeface="Trebuchet MS"/>
                          <a:cs typeface="Trebuchet MS"/>
                        </a:rPr>
                        <a:t>deletion.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9050">
                      <a:solidFill>
                        <a:srgbClr val="BBDBD4"/>
                      </a:solidFill>
                      <a:prstDash val="solid"/>
                    </a:lnL>
                    <a:lnR w="28575">
                      <a:solidFill>
                        <a:srgbClr val="BBDBD4"/>
                      </a:solidFill>
                      <a:prstDash val="solid"/>
                    </a:lnR>
                    <a:lnT w="28575">
                      <a:solidFill>
                        <a:srgbClr val="BBDBD4"/>
                      </a:solidFill>
                      <a:prstDash val="solid"/>
                    </a:lnT>
                    <a:lnB w="28575">
                      <a:solidFill>
                        <a:srgbClr val="BBDB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5084" y="6078473"/>
            <a:ext cx="11390630" cy="443865"/>
            <a:chOff x="45084" y="6078473"/>
            <a:chExt cx="11390630" cy="4438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078473"/>
              <a:ext cx="1754504" cy="4191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799" y="6128003"/>
              <a:ext cx="11379200" cy="388620"/>
            </a:xfrm>
            <a:custGeom>
              <a:avLst/>
              <a:gdLst/>
              <a:ahLst/>
              <a:cxnLst/>
              <a:rect l="l" t="t" r="r" b="b"/>
              <a:pathLst>
                <a:path w="11379200" h="388620">
                  <a:moveTo>
                    <a:pt x="11379200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11379199" y="388620"/>
                  </a:lnTo>
                  <a:lnTo>
                    <a:pt x="11379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799" y="6128003"/>
              <a:ext cx="11379200" cy="388620"/>
            </a:xfrm>
            <a:custGeom>
              <a:avLst/>
              <a:gdLst/>
              <a:ahLst/>
              <a:cxnLst/>
              <a:rect l="l" t="t" r="r" b="b"/>
              <a:pathLst>
                <a:path w="11379200" h="388620">
                  <a:moveTo>
                    <a:pt x="11379200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11379199" y="388620"/>
                  </a:lnTo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084" y="0"/>
            <a:ext cx="11390630" cy="6558915"/>
            <a:chOff x="45084" y="0"/>
            <a:chExt cx="11390630" cy="6558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6553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038849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500" y="6236017"/>
              <a:ext cx="11366500" cy="317500"/>
            </a:xfrm>
            <a:custGeom>
              <a:avLst/>
              <a:gdLst/>
              <a:ahLst/>
              <a:cxnLst/>
              <a:rect l="l" t="t" r="r" b="b"/>
              <a:pathLst>
                <a:path w="11366500" h="317500">
                  <a:moveTo>
                    <a:pt x="11366500" y="0"/>
                  </a:moveTo>
                  <a:lnTo>
                    <a:pt x="0" y="0"/>
                  </a:lnTo>
                  <a:lnTo>
                    <a:pt x="0" y="317182"/>
                  </a:lnTo>
                  <a:lnTo>
                    <a:pt x="11366500" y="317182"/>
                  </a:lnTo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99" y="6128861"/>
              <a:ext cx="11379200" cy="424815"/>
            </a:xfrm>
            <a:custGeom>
              <a:avLst/>
              <a:gdLst/>
              <a:ahLst/>
              <a:cxnLst/>
              <a:rect l="l" t="t" r="r" b="b"/>
              <a:pathLst>
                <a:path w="11379200" h="424815">
                  <a:moveTo>
                    <a:pt x="11379199" y="0"/>
                  </a:moveTo>
                  <a:lnTo>
                    <a:pt x="0" y="0"/>
                  </a:lnTo>
                  <a:lnTo>
                    <a:pt x="0" y="424338"/>
                  </a:lnTo>
                  <a:lnTo>
                    <a:pt x="11379199" y="424338"/>
                  </a:lnTo>
                  <a:lnTo>
                    <a:pt x="11379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799" y="6128861"/>
              <a:ext cx="11379200" cy="424815"/>
            </a:xfrm>
            <a:custGeom>
              <a:avLst/>
              <a:gdLst/>
              <a:ahLst/>
              <a:cxnLst/>
              <a:rect l="l" t="t" r="r" b="b"/>
              <a:pathLst>
                <a:path w="11379200" h="424815">
                  <a:moveTo>
                    <a:pt x="11379199" y="0"/>
                  </a:moveTo>
                  <a:lnTo>
                    <a:pt x="0" y="0"/>
                  </a:lnTo>
                  <a:lnTo>
                    <a:pt x="0" y="424338"/>
                  </a:lnTo>
                  <a:lnTo>
                    <a:pt x="11379199" y="424338"/>
                  </a:lnTo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Roadmap</a:t>
            </a:r>
            <a:r>
              <a:rPr spc="-250" dirty="0"/>
              <a:t> </a:t>
            </a:r>
            <a:r>
              <a:rPr spc="204" dirty="0"/>
              <a:t>&amp;</a:t>
            </a:r>
            <a:r>
              <a:rPr spc="-360" dirty="0"/>
              <a:t> </a:t>
            </a:r>
            <a:r>
              <a:rPr spc="220" dirty="0"/>
              <a:t>Next</a:t>
            </a:r>
            <a:r>
              <a:rPr spc="-250" dirty="0"/>
              <a:t> </a:t>
            </a:r>
            <a:r>
              <a:rPr spc="295" dirty="0"/>
              <a:t>Steps</a:t>
            </a:r>
          </a:p>
        </p:txBody>
      </p:sp>
      <p:sp>
        <p:nvSpPr>
          <p:cNvPr id="9" name="object 9"/>
          <p:cNvSpPr/>
          <p:nvPr/>
        </p:nvSpPr>
        <p:spPr>
          <a:xfrm>
            <a:off x="604837" y="1166812"/>
            <a:ext cx="161925" cy="1019175"/>
          </a:xfrm>
          <a:custGeom>
            <a:avLst/>
            <a:gdLst/>
            <a:ahLst/>
            <a:cxnLst/>
            <a:rect l="l" t="t" r="r" b="b"/>
            <a:pathLst>
              <a:path w="161925" h="1019175">
                <a:moveTo>
                  <a:pt x="0" y="963930"/>
                </a:moveTo>
                <a:lnTo>
                  <a:pt x="0" y="55245"/>
                </a:lnTo>
                <a:lnTo>
                  <a:pt x="0" y="51612"/>
                </a:lnTo>
                <a:lnTo>
                  <a:pt x="351" y="48031"/>
                </a:lnTo>
                <a:lnTo>
                  <a:pt x="1061" y="44462"/>
                </a:lnTo>
                <a:lnTo>
                  <a:pt x="1771" y="40906"/>
                </a:lnTo>
                <a:lnTo>
                  <a:pt x="2818" y="37452"/>
                </a:lnTo>
                <a:lnTo>
                  <a:pt x="4207" y="34099"/>
                </a:lnTo>
                <a:lnTo>
                  <a:pt x="5590" y="30746"/>
                </a:lnTo>
                <a:lnTo>
                  <a:pt x="34102" y="4203"/>
                </a:lnTo>
                <a:lnTo>
                  <a:pt x="44465" y="1066"/>
                </a:lnTo>
                <a:lnTo>
                  <a:pt x="48026" y="355"/>
                </a:lnTo>
                <a:lnTo>
                  <a:pt x="51619" y="0"/>
                </a:lnTo>
                <a:lnTo>
                  <a:pt x="55245" y="0"/>
                </a:lnTo>
                <a:lnTo>
                  <a:pt x="106680" y="0"/>
                </a:lnTo>
                <a:lnTo>
                  <a:pt x="110305" y="0"/>
                </a:lnTo>
                <a:lnTo>
                  <a:pt x="113898" y="355"/>
                </a:lnTo>
                <a:lnTo>
                  <a:pt x="117459" y="1066"/>
                </a:lnTo>
                <a:lnTo>
                  <a:pt x="121017" y="1765"/>
                </a:lnTo>
                <a:lnTo>
                  <a:pt x="152613" y="24549"/>
                </a:lnTo>
                <a:lnTo>
                  <a:pt x="161925" y="51612"/>
                </a:lnTo>
                <a:lnTo>
                  <a:pt x="161925" y="55245"/>
                </a:lnTo>
                <a:lnTo>
                  <a:pt x="161925" y="963930"/>
                </a:lnTo>
                <a:lnTo>
                  <a:pt x="161925" y="967562"/>
                </a:lnTo>
                <a:lnTo>
                  <a:pt x="161573" y="971143"/>
                </a:lnTo>
                <a:lnTo>
                  <a:pt x="160863" y="974699"/>
                </a:lnTo>
                <a:lnTo>
                  <a:pt x="160153" y="978268"/>
                </a:lnTo>
                <a:lnTo>
                  <a:pt x="159106" y="981722"/>
                </a:lnTo>
                <a:lnTo>
                  <a:pt x="157718" y="985062"/>
                </a:lnTo>
                <a:lnTo>
                  <a:pt x="156329" y="988428"/>
                </a:lnTo>
                <a:lnTo>
                  <a:pt x="127822" y="1014971"/>
                </a:lnTo>
                <a:lnTo>
                  <a:pt x="117459" y="1018108"/>
                </a:lnTo>
                <a:lnTo>
                  <a:pt x="113898" y="1018819"/>
                </a:lnTo>
                <a:lnTo>
                  <a:pt x="110305" y="1019175"/>
                </a:lnTo>
                <a:lnTo>
                  <a:pt x="106680" y="1019175"/>
                </a:lnTo>
                <a:lnTo>
                  <a:pt x="55245" y="1019175"/>
                </a:lnTo>
                <a:lnTo>
                  <a:pt x="51619" y="1019175"/>
                </a:lnTo>
                <a:lnTo>
                  <a:pt x="48026" y="1018819"/>
                </a:lnTo>
                <a:lnTo>
                  <a:pt x="44465" y="1018108"/>
                </a:lnTo>
                <a:lnTo>
                  <a:pt x="40907" y="1017409"/>
                </a:lnTo>
                <a:lnTo>
                  <a:pt x="9311" y="994625"/>
                </a:lnTo>
                <a:lnTo>
                  <a:pt x="4207" y="985062"/>
                </a:lnTo>
                <a:lnTo>
                  <a:pt x="2818" y="981722"/>
                </a:lnTo>
                <a:lnTo>
                  <a:pt x="1771" y="978268"/>
                </a:lnTo>
                <a:lnTo>
                  <a:pt x="1061" y="974699"/>
                </a:lnTo>
                <a:lnTo>
                  <a:pt x="351" y="971143"/>
                </a:lnTo>
                <a:lnTo>
                  <a:pt x="0" y="967562"/>
                </a:lnTo>
                <a:lnTo>
                  <a:pt x="0" y="963930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0275" y="1316037"/>
            <a:ext cx="478853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00" dirty="0">
                <a:solidFill>
                  <a:srgbClr val="323F6F"/>
                </a:solidFill>
                <a:latin typeface="Verdana"/>
                <a:cs typeface="Verdana"/>
              </a:rPr>
              <a:t>Phase</a:t>
            </a:r>
            <a:r>
              <a:rPr sz="1650" b="1" spc="-1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-310" dirty="0">
                <a:solidFill>
                  <a:srgbClr val="323F6F"/>
                </a:solidFill>
                <a:latin typeface="Verdana"/>
                <a:cs typeface="Verdana"/>
              </a:rPr>
              <a:t>1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375" dirty="0">
                <a:solidFill>
                  <a:srgbClr val="323F6F"/>
                </a:solidFill>
                <a:latin typeface="Verdana"/>
                <a:cs typeface="Verdana"/>
              </a:rPr>
              <a:t>—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295" dirty="0">
                <a:solidFill>
                  <a:srgbClr val="323F6F"/>
                </a:solidFill>
                <a:latin typeface="Verdana"/>
                <a:cs typeface="Verdana"/>
              </a:rPr>
              <a:t>MVP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Core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125" dirty="0">
                <a:solidFill>
                  <a:srgbClr val="323F6F"/>
                </a:solidFill>
                <a:latin typeface="Trebuchet MS"/>
                <a:cs typeface="Trebuchet MS"/>
              </a:rPr>
              <a:t>DB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+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ingestion,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basic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ranking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323F6F"/>
                </a:solidFill>
                <a:latin typeface="Trebuchet MS"/>
                <a:cs typeface="Trebuchet MS"/>
              </a:rPr>
              <a:t>job,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leaderboard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UI,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auth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2012" y="2366962"/>
            <a:ext cx="161925" cy="1257300"/>
          </a:xfrm>
          <a:custGeom>
            <a:avLst/>
            <a:gdLst/>
            <a:ahLst/>
            <a:cxnLst/>
            <a:rect l="l" t="t" r="r" b="b"/>
            <a:pathLst>
              <a:path w="161925" h="1257300">
                <a:moveTo>
                  <a:pt x="0" y="1202055"/>
                </a:moveTo>
                <a:lnTo>
                  <a:pt x="0" y="55245"/>
                </a:lnTo>
                <a:lnTo>
                  <a:pt x="0" y="51612"/>
                </a:lnTo>
                <a:lnTo>
                  <a:pt x="351" y="48031"/>
                </a:lnTo>
                <a:lnTo>
                  <a:pt x="1061" y="44462"/>
                </a:lnTo>
                <a:lnTo>
                  <a:pt x="1771" y="40906"/>
                </a:lnTo>
                <a:lnTo>
                  <a:pt x="2818" y="37452"/>
                </a:lnTo>
                <a:lnTo>
                  <a:pt x="4207" y="34099"/>
                </a:lnTo>
                <a:lnTo>
                  <a:pt x="5590" y="30746"/>
                </a:lnTo>
                <a:lnTo>
                  <a:pt x="34102" y="4203"/>
                </a:lnTo>
                <a:lnTo>
                  <a:pt x="44465" y="1066"/>
                </a:lnTo>
                <a:lnTo>
                  <a:pt x="48026" y="355"/>
                </a:lnTo>
                <a:lnTo>
                  <a:pt x="51619" y="0"/>
                </a:lnTo>
                <a:lnTo>
                  <a:pt x="55245" y="0"/>
                </a:lnTo>
                <a:lnTo>
                  <a:pt x="106680" y="0"/>
                </a:lnTo>
                <a:lnTo>
                  <a:pt x="110305" y="0"/>
                </a:lnTo>
                <a:lnTo>
                  <a:pt x="113898" y="355"/>
                </a:lnTo>
                <a:lnTo>
                  <a:pt x="117459" y="1066"/>
                </a:lnTo>
                <a:lnTo>
                  <a:pt x="121017" y="1765"/>
                </a:lnTo>
                <a:lnTo>
                  <a:pt x="152613" y="24549"/>
                </a:lnTo>
                <a:lnTo>
                  <a:pt x="161925" y="51612"/>
                </a:lnTo>
                <a:lnTo>
                  <a:pt x="161925" y="55245"/>
                </a:lnTo>
                <a:lnTo>
                  <a:pt x="161925" y="1202055"/>
                </a:lnTo>
                <a:lnTo>
                  <a:pt x="161925" y="1205687"/>
                </a:lnTo>
                <a:lnTo>
                  <a:pt x="161573" y="1209268"/>
                </a:lnTo>
                <a:lnTo>
                  <a:pt x="160863" y="1212824"/>
                </a:lnTo>
                <a:lnTo>
                  <a:pt x="160153" y="1216393"/>
                </a:lnTo>
                <a:lnTo>
                  <a:pt x="159106" y="1219847"/>
                </a:lnTo>
                <a:lnTo>
                  <a:pt x="157718" y="1223187"/>
                </a:lnTo>
                <a:lnTo>
                  <a:pt x="156329" y="1226553"/>
                </a:lnTo>
                <a:lnTo>
                  <a:pt x="127822" y="1253096"/>
                </a:lnTo>
                <a:lnTo>
                  <a:pt x="117459" y="1256233"/>
                </a:lnTo>
                <a:lnTo>
                  <a:pt x="113898" y="1256944"/>
                </a:lnTo>
                <a:lnTo>
                  <a:pt x="110305" y="1257300"/>
                </a:lnTo>
                <a:lnTo>
                  <a:pt x="106680" y="1257300"/>
                </a:lnTo>
                <a:lnTo>
                  <a:pt x="55245" y="1257300"/>
                </a:lnTo>
                <a:lnTo>
                  <a:pt x="51619" y="1257300"/>
                </a:lnTo>
                <a:lnTo>
                  <a:pt x="48026" y="1256944"/>
                </a:lnTo>
                <a:lnTo>
                  <a:pt x="44465" y="1256233"/>
                </a:lnTo>
                <a:lnTo>
                  <a:pt x="40907" y="1255534"/>
                </a:lnTo>
                <a:lnTo>
                  <a:pt x="9311" y="1232750"/>
                </a:lnTo>
                <a:lnTo>
                  <a:pt x="4207" y="1223187"/>
                </a:lnTo>
                <a:lnTo>
                  <a:pt x="2818" y="1219847"/>
                </a:lnTo>
                <a:lnTo>
                  <a:pt x="1771" y="1216393"/>
                </a:lnTo>
                <a:lnTo>
                  <a:pt x="1061" y="1212824"/>
                </a:lnTo>
                <a:lnTo>
                  <a:pt x="351" y="1209268"/>
                </a:lnTo>
                <a:lnTo>
                  <a:pt x="0" y="1205687"/>
                </a:lnTo>
                <a:lnTo>
                  <a:pt x="0" y="1202055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9187" y="3805237"/>
            <a:ext cx="161925" cy="1247775"/>
          </a:xfrm>
          <a:custGeom>
            <a:avLst/>
            <a:gdLst/>
            <a:ahLst/>
            <a:cxnLst/>
            <a:rect l="l" t="t" r="r" b="b"/>
            <a:pathLst>
              <a:path w="161925" h="1247775">
                <a:moveTo>
                  <a:pt x="0" y="1192530"/>
                </a:moveTo>
                <a:lnTo>
                  <a:pt x="0" y="55245"/>
                </a:lnTo>
                <a:lnTo>
                  <a:pt x="0" y="51612"/>
                </a:lnTo>
                <a:lnTo>
                  <a:pt x="351" y="48018"/>
                </a:lnTo>
                <a:lnTo>
                  <a:pt x="1061" y="44462"/>
                </a:lnTo>
                <a:lnTo>
                  <a:pt x="1771" y="40906"/>
                </a:lnTo>
                <a:lnTo>
                  <a:pt x="2818" y="37452"/>
                </a:lnTo>
                <a:lnTo>
                  <a:pt x="4207" y="34099"/>
                </a:lnTo>
                <a:lnTo>
                  <a:pt x="5590" y="30746"/>
                </a:lnTo>
                <a:lnTo>
                  <a:pt x="7292" y="27571"/>
                </a:lnTo>
                <a:lnTo>
                  <a:pt x="24551" y="9309"/>
                </a:lnTo>
                <a:lnTo>
                  <a:pt x="27567" y="7289"/>
                </a:lnTo>
                <a:lnTo>
                  <a:pt x="44465" y="1066"/>
                </a:lnTo>
                <a:lnTo>
                  <a:pt x="48026" y="355"/>
                </a:lnTo>
                <a:lnTo>
                  <a:pt x="51619" y="0"/>
                </a:lnTo>
                <a:lnTo>
                  <a:pt x="55245" y="0"/>
                </a:lnTo>
                <a:lnTo>
                  <a:pt x="106680" y="0"/>
                </a:lnTo>
                <a:lnTo>
                  <a:pt x="110305" y="0"/>
                </a:lnTo>
                <a:lnTo>
                  <a:pt x="113898" y="355"/>
                </a:lnTo>
                <a:lnTo>
                  <a:pt x="117454" y="1066"/>
                </a:lnTo>
                <a:lnTo>
                  <a:pt x="121017" y="1765"/>
                </a:lnTo>
                <a:lnTo>
                  <a:pt x="137373" y="9309"/>
                </a:lnTo>
                <a:lnTo>
                  <a:pt x="140389" y="11328"/>
                </a:lnTo>
                <a:lnTo>
                  <a:pt x="160858" y="44462"/>
                </a:lnTo>
                <a:lnTo>
                  <a:pt x="161569" y="48018"/>
                </a:lnTo>
                <a:lnTo>
                  <a:pt x="161925" y="51612"/>
                </a:lnTo>
                <a:lnTo>
                  <a:pt x="161925" y="55245"/>
                </a:lnTo>
                <a:lnTo>
                  <a:pt x="161925" y="1192530"/>
                </a:lnTo>
                <a:lnTo>
                  <a:pt x="161925" y="1196162"/>
                </a:lnTo>
                <a:lnTo>
                  <a:pt x="161569" y="1199743"/>
                </a:lnTo>
                <a:lnTo>
                  <a:pt x="160858" y="1203299"/>
                </a:lnTo>
                <a:lnTo>
                  <a:pt x="160159" y="1206868"/>
                </a:lnTo>
                <a:lnTo>
                  <a:pt x="137373" y="1238465"/>
                </a:lnTo>
                <a:lnTo>
                  <a:pt x="117454" y="1246708"/>
                </a:lnTo>
                <a:lnTo>
                  <a:pt x="113898" y="1247419"/>
                </a:lnTo>
                <a:lnTo>
                  <a:pt x="110305" y="1247775"/>
                </a:lnTo>
                <a:lnTo>
                  <a:pt x="106680" y="1247775"/>
                </a:lnTo>
                <a:lnTo>
                  <a:pt x="55245" y="1247775"/>
                </a:lnTo>
                <a:lnTo>
                  <a:pt x="51619" y="1247775"/>
                </a:lnTo>
                <a:lnTo>
                  <a:pt x="48026" y="1247419"/>
                </a:lnTo>
                <a:lnTo>
                  <a:pt x="44465" y="1246708"/>
                </a:lnTo>
                <a:lnTo>
                  <a:pt x="40907" y="1246009"/>
                </a:lnTo>
                <a:lnTo>
                  <a:pt x="9311" y="1223213"/>
                </a:lnTo>
                <a:lnTo>
                  <a:pt x="7292" y="1220203"/>
                </a:lnTo>
                <a:lnTo>
                  <a:pt x="5590" y="1217028"/>
                </a:lnTo>
                <a:lnTo>
                  <a:pt x="4207" y="1213662"/>
                </a:lnTo>
                <a:lnTo>
                  <a:pt x="2818" y="1210322"/>
                </a:lnTo>
                <a:lnTo>
                  <a:pt x="1771" y="1206868"/>
                </a:lnTo>
                <a:lnTo>
                  <a:pt x="1061" y="1203299"/>
                </a:lnTo>
                <a:lnTo>
                  <a:pt x="351" y="1199743"/>
                </a:lnTo>
                <a:lnTo>
                  <a:pt x="0" y="1196162"/>
                </a:lnTo>
                <a:lnTo>
                  <a:pt x="0" y="1192530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7375" y="2516187"/>
            <a:ext cx="5870575" cy="3531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135"/>
              </a:spcBef>
            </a:pPr>
            <a:r>
              <a:rPr sz="1650" b="1" spc="200" dirty="0">
                <a:solidFill>
                  <a:srgbClr val="323F6F"/>
                </a:solidFill>
                <a:latin typeface="Verdana"/>
                <a:cs typeface="Verdana"/>
              </a:rPr>
              <a:t>Phase</a:t>
            </a:r>
            <a:r>
              <a:rPr sz="1650" b="1" spc="-1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220" dirty="0">
                <a:solidFill>
                  <a:srgbClr val="323F6F"/>
                </a:solidFill>
                <a:latin typeface="Verdana"/>
                <a:cs typeface="Verdana"/>
              </a:rPr>
              <a:t>2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375" dirty="0">
                <a:solidFill>
                  <a:srgbClr val="323F6F"/>
                </a:solidFill>
                <a:latin typeface="Verdana"/>
                <a:cs typeface="Verdana"/>
              </a:rPr>
              <a:t>—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210" dirty="0">
                <a:solidFill>
                  <a:srgbClr val="323F6F"/>
                </a:solidFill>
                <a:latin typeface="Verdana"/>
                <a:cs typeface="Verdana"/>
              </a:rPr>
              <a:t>Metrics</a:t>
            </a:r>
            <a:endParaRPr sz="1650">
              <a:latin typeface="Verdana"/>
              <a:cs typeface="Verdana"/>
            </a:endParaRPr>
          </a:p>
          <a:p>
            <a:pPr marL="612775" marR="564515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Charting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323F6F"/>
                </a:solidFill>
                <a:latin typeface="Trebuchet MS"/>
                <a:cs typeface="Trebuchet MS"/>
              </a:rPr>
              <a:t>(Chart.js),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smoothing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algorithms,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sales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correlation 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dashboards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350">
              <a:latin typeface="Trebuchet MS"/>
              <a:cs typeface="Trebuchet MS"/>
            </a:endParaRPr>
          </a:p>
          <a:p>
            <a:pPr marL="869950">
              <a:lnSpc>
                <a:spcPct val="100000"/>
              </a:lnSpc>
            </a:pPr>
            <a:r>
              <a:rPr sz="1650" b="1" spc="200" dirty="0">
                <a:solidFill>
                  <a:srgbClr val="323F6F"/>
                </a:solidFill>
                <a:latin typeface="Verdana"/>
                <a:cs typeface="Verdana"/>
              </a:rPr>
              <a:t>Phase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235" dirty="0">
                <a:solidFill>
                  <a:srgbClr val="323F6F"/>
                </a:solidFill>
                <a:latin typeface="Verdana"/>
                <a:cs typeface="Verdana"/>
              </a:rPr>
              <a:t>3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375" dirty="0">
                <a:solidFill>
                  <a:srgbClr val="323F6F"/>
                </a:solidFill>
                <a:latin typeface="Verdana"/>
                <a:cs typeface="Verdana"/>
              </a:rPr>
              <a:t>—</a:t>
            </a:r>
            <a:r>
              <a:rPr sz="1650" b="1" spc="-1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185" dirty="0">
                <a:solidFill>
                  <a:srgbClr val="323F6F"/>
                </a:solidFill>
                <a:latin typeface="Verdana"/>
                <a:cs typeface="Verdana"/>
              </a:rPr>
              <a:t>Scale</a:t>
            </a:r>
            <a:r>
              <a:rPr sz="1650" b="1" spc="-14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155" dirty="0">
                <a:solidFill>
                  <a:srgbClr val="323F6F"/>
                </a:solidFill>
                <a:latin typeface="Verdana"/>
                <a:cs typeface="Verdana"/>
              </a:rPr>
              <a:t>&amp;</a:t>
            </a:r>
            <a:r>
              <a:rPr sz="1650" b="1" spc="-21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650" b="1" spc="114" dirty="0">
                <a:solidFill>
                  <a:srgbClr val="323F6F"/>
                </a:solidFill>
                <a:latin typeface="Verdana"/>
                <a:cs typeface="Verdana"/>
              </a:rPr>
              <a:t>polish</a:t>
            </a:r>
            <a:endParaRPr sz="1650">
              <a:latin typeface="Verdana"/>
              <a:cs typeface="Verdana"/>
            </a:endParaRPr>
          </a:p>
          <a:p>
            <a:pPr marL="869950" marR="414655">
              <a:lnSpc>
                <a:spcPct val="129600"/>
              </a:lnSpc>
              <a:spcBef>
                <a:spcPts val="690"/>
              </a:spcBef>
            </a:pP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Performance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tuning,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caching,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role-based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admin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UI,</a:t>
            </a:r>
            <a:r>
              <a:rPr sz="1350" spc="7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23F6F"/>
                </a:solidFill>
                <a:latin typeface="Trebuchet MS"/>
                <a:cs typeface="Trebuchet MS"/>
              </a:rPr>
              <a:t>A/B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323F6F"/>
                </a:solidFill>
                <a:latin typeface="Trebuchet MS"/>
                <a:cs typeface="Trebuchet MS"/>
              </a:rPr>
              <a:t>of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weighting</a:t>
            </a:r>
            <a:r>
              <a:rPr sz="1350" spc="114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formula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"/>
              </a:spcBef>
            </a:pP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Recommended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immediate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actions: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scaffold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schema,</a:t>
            </a:r>
            <a:r>
              <a:rPr sz="1350" spc="5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implement</a:t>
            </a:r>
            <a:r>
              <a:rPr sz="1350" spc="5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ingestion API,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wire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80" dirty="0">
                <a:solidFill>
                  <a:srgbClr val="323F6F"/>
                </a:solidFill>
                <a:latin typeface="Trebuchet MS"/>
                <a:cs typeface="Trebuchet MS"/>
              </a:rPr>
              <a:t>up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a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scheduled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ranking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worker,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323F6F"/>
                </a:solidFill>
                <a:latin typeface="Trebuchet MS"/>
                <a:cs typeface="Trebuchet MS"/>
              </a:rPr>
              <a:t>and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build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the</a:t>
            </a:r>
            <a:r>
              <a:rPr sz="1350" spc="4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top-</a:t>
            </a:r>
            <a:r>
              <a:rPr sz="1350" spc="-25" dirty="0">
                <a:solidFill>
                  <a:srgbClr val="323F6F"/>
                </a:solidFill>
                <a:latin typeface="Trebuchet MS"/>
                <a:cs typeface="Trebuchet MS"/>
              </a:rPr>
              <a:t>10</a:t>
            </a:r>
            <a:r>
              <a:rPr sz="1350" spc="50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leaderboard</a:t>
            </a:r>
            <a:r>
              <a:rPr sz="1350" spc="30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323F6F"/>
                </a:solidFill>
                <a:latin typeface="Trebuchet MS"/>
                <a:cs typeface="Trebuchet MS"/>
              </a:rPr>
              <a:t>as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the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first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23F6F"/>
                </a:solidFill>
                <a:latin typeface="Trebuchet MS"/>
                <a:cs typeface="Trebuchet MS"/>
              </a:rPr>
              <a:t>public-facing</a:t>
            </a:r>
            <a:r>
              <a:rPr sz="1350" spc="35" dirty="0">
                <a:solidFill>
                  <a:srgbClr val="323F6F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23F6F"/>
                </a:solidFill>
                <a:latin typeface="Trebuchet MS"/>
                <a:cs typeface="Trebuchet MS"/>
              </a:rPr>
              <a:t>feature.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644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Times New Roman</vt:lpstr>
      <vt:lpstr>Trebuchet MS</vt:lpstr>
      <vt:lpstr>Verdana</vt:lpstr>
      <vt:lpstr>Office Theme</vt:lpstr>
      <vt:lpstr>Steam Game Analytics &amp; Ranking System</vt:lpstr>
      <vt:lpstr>OBJECTIVE</vt:lpstr>
      <vt:lpstr>Core Capabilities</vt:lpstr>
      <vt:lpstr>Database Design (Overview)</vt:lpstr>
      <vt:lpstr>Ranking Formula &amp; Rationale</vt:lpstr>
      <vt:lpstr>Data Flow &amp; Processing</vt:lpstr>
      <vt:lpstr>Charts &amp; Visuals (Frontend)</vt:lpstr>
      <vt:lpstr>PowerPoint Presentation</vt:lpstr>
      <vt:lpstr>Security, Privacy &amp; Data Quality</vt:lpstr>
      <vt:lpstr>Roadmap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Chetan Malik</dc:creator>
  <cp:lastModifiedBy>Chetan Malik</cp:lastModifiedBy>
  <cp:revision>2</cp:revision>
  <dcterms:created xsi:type="dcterms:W3CDTF">2026-02-27T04:25:38Z</dcterms:created>
  <dcterms:modified xsi:type="dcterms:W3CDTF">2026-04-28T05:29:23Z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2026-02-27T00:00:00Z</vt:filetime>
  </property>
  <property fmtid="{D5CDD505-2E9C-101B-9397-08002B2CF9AE}" pid="5" name="Producer">
    <vt:lpwstr>3.0.31 (5.1.18) </vt:lpwstr>
  </property>
</Properties>
</file>